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1" r:id="rId2"/>
  </p:sldMasterIdLst>
  <p:notesMasterIdLst>
    <p:notesMasterId r:id="rId30"/>
  </p:notesMasterIdLst>
  <p:sldIdLst>
    <p:sldId id="256" r:id="rId3"/>
    <p:sldId id="257" r:id="rId4"/>
    <p:sldId id="300" r:id="rId5"/>
    <p:sldId id="301" r:id="rId6"/>
    <p:sldId id="302" r:id="rId7"/>
    <p:sldId id="303" r:id="rId8"/>
    <p:sldId id="260" r:id="rId9"/>
    <p:sldId id="317" r:id="rId10"/>
    <p:sldId id="318" r:id="rId11"/>
    <p:sldId id="304" r:id="rId12"/>
    <p:sldId id="305" r:id="rId13"/>
    <p:sldId id="307" r:id="rId14"/>
    <p:sldId id="308" r:id="rId15"/>
    <p:sldId id="309" r:id="rId16"/>
    <p:sldId id="310" r:id="rId17"/>
    <p:sldId id="311" r:id="rId18"/>
    <p:sldId id="312" r:id="rId19"/>
    <p:sldId id="313" r:id="rId20"/>
    <p:sldId id="314" r:id="rId21"/>
    <p:sldId id="270" r:id="rId22"/>
    <p:sldId id="280" r:id="rId23"/>
    <p:sldId id="281" r:id="rId24"/>
    <p:sldId id="287" r:id="rId25"/>
    <p:sldId id="316" r:id="rId26"/>
    <p:sldId id="297" r:id="rId27"/>
    <p:sldId id="298" r:id="rId28"/>
    <p:sldId id="299" r:id="rId29"/>
  </p:sldIdLst>
  <p:sldSz cx="12192000" cy="6858000"/>
  <p:notesSz cx="6858000" cy="9144000"/>
  <p:embeddedFontLst>
    <p:embeddedFont>
      <p:font typeface="Proxima Nova" panose="020B0604020202020204" charset="0"/>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A2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hyperlink" Target="https://arxiv.org/a"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7"/>
        <p:cNvGrpSpPr/>
        <p:nvPr/>
      </p:nvGrpSpPr>
      <p:grpSpPr>
        <a:xfrm>
          <a:off x="0" y="0"/>
          <a:ext cx="0" cy="0"/>
          <a:chOff x="0" y="0"/>
          <a:chExt cx="0" cy="0"/>
        </a:xfrm>
      </p:grpSpPr>
      <p:sp>
        <p:nvSpPr>
          <p:cNvPr id="88" name="Google Shape;88;p2"/>
          <p:cNvSpPr txBox="1"/>
          <p:nvPr/>
        </p:nvSpPr>
        <p:spPr>
          <a:xfrm>
            <a:off x="235974" y="3431393"/>
            <a:ext cx="11710220" cy="1015632"/>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Team Member 1: </a:t>
            </a:r>
            <a:r>
              <a:rPr lang="en-US" sz="1800" dirty="0">
                <a:solidFill>
                  <a:srgbClr val="04A2B9"/>
                </a:solidFill>
                <a:latin typeface="Proxima Nova" panose="02000506030000020004"/>
                <a:ea typeface="Proxima Nova" panose="02000506030000020004"/>
                <a:cs typeface="Proxima Nova" panose="02000506030000020004"/>
                <a:sym typeface="Proxima Nova" panose="02000506030000020004"/>
              </a:rPr>
              <a:t>AUMANSH GUPTA</a:t>
            </a:r>
            <a:r>
              <a:rPr lang="en-US" sz="18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  (</a:t>
            </a:r>
            <a:r>
              <a:rPr lang="en-US" sz="1800" dirty="0">
                <a:solidFill>
                  <a:srgbClr val="04A2B9"/>
                </a:solidFill>
                <a:latin typeface="Proxima Nova" panose="02000506030000020004"/>
                <a:ea typeface="Proxima Nova" panose="02000506030000020004"/>
                <a:cs typeface="Proxima Nova" panose="02000506030000020004"/>
                <a:sym typeface="Proxima Nova" panose="02000506030000020004"/>
              </a:rPr>
              <a:t>92200103209</a:t>
            </a:r>
            <a:r>
              <a:rPr lang="en-US" sz="18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 (</a:t>
            </a:r>
            <a:r>
              <a:rPr lang="en-US" sz="1800" dirty="0">
                <a:solidFill>
                  <a:srgbClr val="04A2B9"/>
                </a:solidFill>
                <a:latin typeface="Proxima Nova" panose="02000506030000020004"/>
                <a:ea typeface="Proxima Nova" panose="02000506030000020004"/>
                <a:cs typeface="Proxima Nova" panose="02000506030000020004"/>
                <a:sym typeface="Proxima Nova" panose="02000506030000020004"/>
              </a:rPr>
              <a:t>7TC4</a:t>
            </a:r>
            <a:r>
              <a:rPr lang="en-US" sz="18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a:t>
            </a:r>
            <a:endParaRPr dirty="0">
              <a:solidFill>
                <a:srgbClr val="04A2B9"/>
              </a:solidFill>
            </a:endParaRPr>
          </a:p>
          <a:p>
            <a:pPr marL="0" marR="0" lvl="0" indent="0" algn="ctr" rtl="0">
              <a:spcBef>
                <a:spcPts val="0"/>
              </a:spcBef>
              <a:spcAft>
                <a:spcPts val="0"/>
              </a:spcAft>
              <a:buNone/>
            </a:pPr>
            <a:r>
              <a:rPr lang="en-US" sz="1800" dirty="0">
                <a:solidFill>
                  <a:schemeClr val="dk1"/>
                </a:solidFill>
                <a:latin typeface="Proxima Nova" panose="02000506030000020004"/>
                <a:ea typeface="Proxima Nova" panose="02000506030000020004"/>
                <a:cs typeface="Proxima Nova" panose="02000506030000020004"/>
                <a:sym typeface="Proxima Nova" panose="02000506030000020004"/>
              </a:rPr>
              <a:t>          </a:t>
            </a:r>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Team Member 2: </a:t>
            </a:r>
            <a:r>
              <a:rPr lang="en-US" sz="1800" dirty="0">
                <a:solidFill>
                  <a:srgbClr val="04A2B9"/>
                </a:solidFill>
                <a:latin typeface="Proxima Nova" panose="02000506030000020004"/>
                <a:ea typeface="Proxima Nova" panose="02000506030000020004"/>
                <a:cs typeface="Proxima Nova" panose="02000506030000020004"/>
                <a:sym typeface="Proxima Nova" panose="02000506030000020004"/>
              </a:rPr>
              <a:t>SACHIN KUMAR AMAN  </a:t>
            </a:r>
            <a:r>
              <a:rPr lang="en-US" sz="18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 (</a:t>
            </a:r>
            <a:r>
              <a:rPr lang="en-US" sz="1800" dirty="0">
                <a:solidFill>
                  <a:srgbClr val="04A2B9"/>
                </a:solidFill>
                <a:latin typeface="Proxima Nova" panose="02000506030000020004"/>
                <a:ea typeface="Proxima Nova" panose="02000506030000020004"/>
                <a:cs typeface="Proxima Nova" panose="02000506030000020004"/>
                <a:sym typeface="Proxima Nova" panose="02000506030000020004"/>
              </a:rPr>
              <a:t>92200103259</a:t>
            </a:r>
            <a:r>
              <a:rPr lang="en-US" sz="18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 (</a:t>
            </a:r>
            <a:r>
              <a:rPr lang="en-US" sz="1800" dirty="0">
                <a:solidFill>
                  <a:srgbClr val="04A2B9"/>
                </a:solidFill>
                <a:latin typeface="Proxima Nova" panose="02000506030000020004"/>
                <a:ea typeface="Proxima Nova" panose="02000506030000020004"/>
                <a:cs typeface="Proxima Nova" panose="02000506030000020004"/>
                <a:sym typeface="Proxima Nova" panose="02000506030000020004"/>
              </a:rPr>
              <a:t>7TC5</a:t>
            </a:r>
            <a:r>
              <a:rPr lang="en-US" sz="18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a:t>
            </a:r>
            <a:endParaRPr lang="en-US" dirty="0">
              <a:solidFill>
                <a:srgbClr val="04A2B9"/>
              </a:solidFill>
            </a:endParaRPr>
          </a:p>
          <a:p>
            <a:pPr marL="0" marR="0" lvl="0" indent="0" algn="ctr" rtl="0">
              <a:spcBef>
                <a:spcPts val="0"/>
              </a:spcBef>
              <a:spcAft>
                <a:spcPts val="0"/>
              </a:spcAft>
              <a:buNone/>
            </a:pPr>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Team Member 3: </a:t>
            </a:r>
            <a:r>
              <a:rPr lang="en-US" sz="1800" dirty="0">
                <a:solidFill>
                  <a:srgbClr val="04A2B9"/>
                </a:solidFill>
                <a:latin typeface="Proxima Nova" panose="02000506030000020004"/>
                <a:ea typeface="Proxima Nova" panose="02000506030000020004"/>
                <a:cs typeface="Proxima Nova" panose="02000506030000020004"/>
                <a:sym typeface="Proxima Nova" panose="02000506030000020004"/>
              </a:rPr>
              <a:t>RADHIKA PITHVA  </a:t>
            </a:r>
            <a:r>
              <a:rPr lang="en-US" sz="18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 (</a:t>
            </a:r>
            <a:r>
              <a:rPr lang="en-US" sz="1800" dirty="0">
                <a:solidFill>
                  <a:srgbClr val="04A2B9"/>
                </a:solidFill>
                <a:latin typeface="Proxima Nova" panose="02000506030000020004"/>
                <a:ea typeface="Proxima Nova" panose="02000506030000020004"/>
                <a:cs typeface="Proxima Nova" panose="02000506030000020004"/>
                <a:sym typeface="Proxima Nova" panose="02000506030000020004"/>
              </a:rPr>
              <a:t>92200103283</a:t>
            </a:r>
            <a:r>
              <a:rPr lang="en-US" sz="18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 (</a:t>
            </a:r>
            <a:r>
              <a:rPr lang="en-US" sz="1800" dirty="0">
                <a:solidFill>
                  <a:srgbClr val="04A2B9"/>
                </a:solidFill>
                <a:latin typeface="Proxima Nova" panose="02000506030000020004"/>
                <a:ea typeface="Proxima Nova" panose="02000506030000020004"/>
                <a:cs typeface="Proxima Nova" panose="02000506030000020004"/>
                <a:sym typeface="Proxima Nova" panose="02000506030000020004"/>
              </a:rPr>
              <a:t>7TC4</a:t>
            </a:r>
            <a:r>
              <a:rPr lang="en-US" sz="18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a:t>
            </a:r>
            <a:endParaRPr lang="en-US" dirty="0">
              <a:solidFill>
                <a:srgbClr val="04A2B9"/>
              </a:solidFill>
            </a:endParaRPr>
          </a:p>
        </p:txBody>
      </p:sp>
      <p:sp>
        <p:nvSpPr>
          <p:cNvPr id="89" name="Google Shape;89;p2"/>
          <p:cNvSpPr txBox="1"/>
          <p:nvPr/>
        </p:nvSpPr>
        <p:spPr>
          <a:xfrm>
            <a:off x="235973" y="2548333"/>
            <a:ext cx="11710219" cy="795300"/>
          </a:xfrm>
          <a:prstGeom prst="rect">
            <a:avLst/>
          </a:prstGeom>
          <a:noFill/>
          <a:ln>
            <a:noFill/>
          </a:ln>
        </p:spPr>
        <p:txBody>
          <a:bodyPr spcFirstLastPara="1" wrap="square" lIns="0" tIns="12700" rIns="0" bIns="0" anchor="ctr" anchorCtr="0">
            <a:spAutoFit/>
          </a:bodyPr>
          <a:lstStyle/>
          <a:p>
            <a:pPr marL="12700" algn="ctr">
              <a:buClr>
                <a:srgbClr val="04A2B9"/>
              </a:buClr>
              <a:buSzPts val="2800"/>
            </a:pPr>
            <a:r>
              <a:rPr lang="en-US" sz="2800" dirty="0">
                <a:solidFill>
                  <a:srgbClr val="04A2B9"/>
                </a:solidFill>
                <a:latin typeface="Proxima Nova" panose="02000506030000020004"/>
              </a:rPr>
              <a:t>INTRUSION DETECTION SYSTEM USING YOLO &amp; CNN</a:t>
            </a:r>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Team ID: </a:t>
            </a:r>
            <a:r>
              <a:rPr lang="en-US" sz="2200" dirty="0">
                <a:solidFill>
                  <a:srgbClr val="04A2B9"/>
                </a:solidFill>
                <a:latin typeface="Proxima Nova" panose="02000506030000020004"/>
                <a:ea typeface="Proxima Nova" panose="02000506030000020004"/>
                <a:cs typeface="Proxima Nova" panose="02000506030000020004"/>
                <a:sym typeface="Proxima Nova" panose="02000506030000020004"/>
              </a:rPr>
              <a:t>7CE_123</a:t>
            </a:r>
            <a:endParaRPr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90" name="Google Shape;90;p2"/>
          <p:cNvSpPr txBox="1"/>
          <p:nvPr/>
        </p:nvSpPr>
        <p:spPr>
          <a:xfrm>
            <a:off x="5459831" y="4489367"/>
            <a:ext cx="1272300" cy="461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a:solidFill>
                  <a:srgbClr val="595959"/>
                </a:solidFill>
                <a:latin typeface="Proxima Nova" panose="02000506030000020004"/>
                <a:ea typeface="Proxima Nova" panose="02000506030000020004"/>
                <a:cs typeface="Proxima Nova" panose="02000506030000020004"/>
                <a:sym typeface="Proxima Nova" panose="02000506030000020004"/>
              </a:rPr>
              <a:t>Guided By</a:t>
            </a:r>
          </a:p>
        </p:txBody>
      </p:sp>
      <p:sp>
        <p:nvSpPr>
          <p:cNvPr id="91" name="Google Shape;91;p2"/>
          <p:cNvSpPr txBox="1"/>
          <p:nvPr/>
        </p:nvSpPr>
        <p:spPr>
          <a:xfrm>
            <a:off x="235974" y="4897337"/>
            <a:ext cx="11710219" cy="461635"/>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Internal Guide Name: DR. Anjali Diwan</a:t>
            </a:r>
          </a:p>
        </p:txBody>
      </p:sp>
      <p:sp>
        <p:nvSpPr>
          <p:cNvPr id="92" name="Google Shape;92;p2"/>
          <p:cNvSpPr txBox="1"/>
          <p:nvPr/>
        </p:nvSpPr>
        <p:spPr>
          <a:xfrm>
            <a:off x="3193926" y="5441197"/>
            <a:ext cx="3023400" cy="4002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endParaRPr dirty="0"/>
          </a:p>
        </p:txBody>
      </p:sp>
      <p:sp>
        <p:nvSpPr>
          <p:cNvPr id="93" name="Google Shape;93;p2"/>
          <p:cNvSpPr txBox="1"/>
          <p:nvPr/>
        </p:nvSpPr>
        <p:spPr>
          <a:xfrm>
            <a:off x="2965333" y="1647227"/>
            <a:ext cx="6504000" cy="843821"/>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panose="02000506030000020004"/>
              <a:buNone/>
            </a:pPr>
            <a:r>
              <a:rPr lang="en-US" sz="32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Major Project-I (01CE0716)</a:t>
            </a:r>
            <a:b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br>
            <a:endParaRPr sz="2200" b="0" i="0" u="none" strike="noStrike" cap="none" dirty="0">
              <a:solidFill>
                <a:schemeClr val="dk1"/>
              </a:solidFill>
              <a:latin typeface="Proxima Nova" panose="02000506030000020004"/>
              <a:ea typeface="Proxima Nova" panose="02000506030000020004"/>
              <a:cs typeface="Proxima Nova" panose="02000506030000020004"/>
            </a:endParaRPr>
          </a:p>
        </p:txBody>
      </p:sp>
      <p:sp>
        <p:nvSpPr>
          <p:cNvPr id="94" name="Google Shape;94;p2"/>
          <p:cNvSpPr txBox="1"/>
          <p:nvPr/>
        </p:nvSpPr>
        <p:spPr>
          <a:xfrm>
            <a:off x="235974" y="5643518"/>
            <a:ext cx="11710219" cy="936154"/>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panose="02000506030000020004"/>
              <a:buNone/>
            </a:pPr>
            <a:r>
              <a:rPr lang="en-US" sz="24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Department of Computer Engineering,</a:t>
            </a:r>
            <a:br>
              <a:rPr lang="en-US" sz="24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br>
            <a:r>
              <a:rPr lang="en-US" sz="24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Faculty of Engineering &amp; Technology</a:t>
            </a:r>
            <a:r>
              <a:rPr lang="en-US" sz="36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 </a:t>
            </a:r>
            <a:endParaRPr sz="36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646634" y="272993"/>
            <a:ext cx="6879264" cy="455295"/>
          </a:xfrm>
          <a:prstGeom prst="rect">
            <a:avLst/>
          </a:prstGeom>
          <a:noFill/>
          <a:ln>
            <a:noFill/>
          </a:ln>
        </p:spPr>
        <p:txBody>
          <a:bodyPr spcFirstLastPara="1" wrap="square" lIns="0" tIns="12700" rIns="0" bIns="0" anchor="ctr" anchorCtr="0">
            <a:spAutoFit/>
          </a:bodyPr>
          <a:lstStyle/>
          <a:p>
            <a:r>
              <a:rPr lang="en-IN" altLang="en-US" sz="3200" b="1" dirty="0">
                <a:solidFill>
                  <a:srgbClr val="04A2B9"/>
                </a:solidFill>
                <a:latin typeface="Times New Roman" panose="02020603050405020304" pitchFamily="18" charset="0"/>
                <a:cs typeface="Times New Roman" panose="02020603050405020304" pitchFamily="18" charset="0"/>
              </a:rPr>
              <a:t>Abstract</a:t>
            </a:r>
          </a:p>
        </p:txBody>
      </p:sp>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sp>
        <p:nvSpPr>
          <p:cNvPr id="3" name="Google Shape;100;p3"/>
          <p:cNvSpPr txBox="1"/>
          <p:nvPr/>
        </p:nvSpPr>
        <p:spPr>
          <a:xfrm>
            <a:off x="248920" y="965835"/>
            <a:ext cx="11569700" cy="5046980"/>
          </a:xfrm>
          <a:prstGeom prst="rect">
            <a:avLst/>
          </a:prstGeom>
          <a:noFill/>
          <a:ln>
            <a:noFill/>
          </a:ln>
        </p:spPr>
        <p:txBody>
          <a:bodyPr spcFirstLastPara="1" wrap="square" lIns="91425" tIns="91425" rIns="91425" bIns="91425" anchor="t" anchorCtr="0">
            <a:noAutofit/>
          </a:bodyPr>
          <a:lstStyle/>
          <a:p>
            <a:pPr algn="just"/>
            <a:r>
              <a:rPr lang="en-US" sz="2400" dirty="0">
                <a:latin typeface="Times New Roman" panose="02020603050405020304" pitchFamily="18" charset="0"/>
                <a:cs typeface="Times New Roman" panose="02020603050405020304" pitchFamily="18" charset="0"/>
                <a:sym typeface="+mn-ea"/>
              </a:rPr>
              <a:t>With the growing concerns over unauthorized access in secure facilities and organizations, there is a compelling need for an intelligent surveillance system that can detect intruders in real time. This project proposes a hybrid intrusion detection framework combining the speed and efficiency of YOLOv8 (You Only Look Once) for object and face detection with the deep learning capabilities of Convolutional Neural Networks (CNNs) for face classification. The system determines whether a detected individual is an authorized person by comparing the face with a pre-stored facial dataset. If the person is unrecognized (unauthorized), the system immediately triggers an alert mechanism via email or SMS.</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sym typeface="+mn-ea"/>
              </a:rPr>
              <a:t>The system is trained and evaluated using </a:t>
            </a:r>
            <a:r>
              <a:rPr lang="en-US" sz="2400" dirty="0" err="1">
                <a:latin typeface="Times New Roman" panose="02020603050405020304" pitchFamily="18" charset="0"/>
                <a:cs typeface="Times New Roman" panose="02020603050405020304" pitchFamily="18" charset="0"/>
                <a:sym typeface="+mn-ea"/>
              </a:rPr>
              <a:t>CrowdHuman</a:t>
            </a:r>
            <a:r>
              <a:rPr lang="en-US" sz="2400" dirty="0">
                <a:latin typeface="Times New Roman" panose="02020603050405020304" pitchFamily="18" charset="0"/>
                <a:cs typeface="Times New Roman" panose="02020603050405020304" pitchFamily="18" charset="0"/>
                <a:sym typeface="+mn-ea"/>
              </a:rPr>
              <a:t> for dense human detection and OpenVGun6 dataset to handle scenarios involving potential threats like firearms. This hybrid approach allows robust classification even in challenging conditions such as varying lighting, occlusion, and crowded scenes. The result is a highly scalable, accurate, and real-time security surveillance solution.</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84404" y="272993"/>
            <a:ext cx="6879264" cy="455295"/>
          </a:xfrm>
          <a:prstGeom prst="rect">
            <a:avLst/>
          </a:prstGeom>
          <a:noFill/>
          <a:ln>
            <a:noFill/>
          </a:ln>
        </p:spPr>
        <p:txBody>
          <a:bodyPr spcFirstLastPara="1" wrap="square" lIns="0" tIns="12700" rIns="0" bIns="0" anchor="ctr" anchorCtr="0">
            <a:spAutoFit/>
          </a:bodyPr>
          <a:lstStyle/>
          <a:p>
            <a:r>
              <a:rPr lang="en-IN" altLang="en-US" sz="3200" b="1" dirty="0">
                <a:solidFill>
                  <a:srgbClr val="04A2B9"/>
                </a:solidFill>
                <a:latin typeface="Times New Roman" panose="02020603050405020304" pitchFamily="18" charset="0"/>
                <a:cs typeface="Times New Roman" panose="02020603050405020304" pitchFamily="18" charset="0"/>
              </a:rPr>
              <a:t>Introduction</a:t>
            </a:r>
          </a:p>
        </p:txBody>
      </p:sp>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sp>
        <p:nvSpPr>
          <p:cNvPr id="3" name="Google Shape;100;p3"/>
          <p:cNvSpPr txBox="1"/>
          <p:nvPr/>
        </p:nvSpPr>
        <p:spPr>
          <a:xfrm>
            <a:off x="248920" y="1061720"/>
            <a:ext cx="11693525" cy="5473065"/>
          </a:xfrm>
          <a:prstGeom prst="rect">
            <a:avLst/>
          </a:prstGeom>
          <a:noFill/>
          <a:ln>
            <a:noFill/>
          </a:ln>
        </p:spPr>
        <p:txBody>
          <a:bodyPr spcFirstLastPara="1" wrap="square" lIns="91425" tIns="91425" rIns="91425" bIns="91425" anchor="t" anchorCtr="0">
            <a:noAutofit/>
          </a:bodyPr>
          <a:lstStyle/>
          <a:p>
            <a:pPr algn="just"/>
            <a:r>
              <a:rPr lang="en-US" sz="2400" dirty="0">
                <a:latin typeface="Times New Roman" panose="02020603050405020304" pitchFamily="18" charset="0"/>
                <a:cs typeface="Times New Roman" panose="02020603050405020304" pitchFamily="18" charset="0"/>
                <a:sym typeface="+mn-ea"/>
              </a:rPr>
              <a:t>Security is paramount in today's corporate, educational, and defense infrastructures. Conventional security systems often rely on manual monitoring or rule-based motion detection, which are prone to errors and inefficiency. With the increasing sophistication of intruders, there's a need for smarter surveillance — particularly those which can detect and identify intrusions based on faces and behaviors.</a:t>
            </a:r>
            <a:endParaRPr lang="en-US" sz="2400" dirty="0">
              <a:latin typeface="Times New Roman" panose="02020603050405020304" pitchFamily="18" charset="0"/>
              <a:cs typeface="Times New Roman" panose="02020603050405020304" pitchFamily="18" charset="0"/>
            </a:endParaRPr>
          </a:p>
          <a:p>
            <a:pPr algn="just"/>
            <a:endParaRPr lang="en-US" sz="10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sym typeface="+mn-ea"/>
              </a:rPr>
              <a:t>This project introduces an AI-powered surveillance system combining YOLOv8 for real-time detection and a CNN for classification. The YOLO module detects faces in video frames, while the CNN verifies if the face matches with a known authorized dataset. If no match is found, an alert is sent via email or SMS through API integration (like Twilio or SMTP).</a:t>
            </a:r>
          </a:p>
          <a:p>
            <a:pPr algn="just"/>
            <a:endParaRPr lang="en-US" sz="10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sym typeface="+mn-ea"/>
              </a:rPr>
              <a:t>By leveraging facial image datasets and YOLO’s object detection, the model captures the frame, extracts the face, and classifies it using a CNN trained on authorized personnel. Alerts are generated based on classification confidence. The model supports real-time processing from CCTV inputs.</a:t>
            </a:r>
            <a:endParaRPr lang="en-US" sz="2400" dirty="0">
              <a:latin typeface="Times New Roman" panose="02020603050405020304" pitchFamily="18" charset="0"/>
              <a:cs typeface="Times New Roman" panose="02020603050405020304" pitchFamily="18" charset="0"/>
            </a:endParaRPr>
          </a:p>
          <a:p>
            <a:pPr marR="0" lvl="0" algn="just">
              <a:spcBef>
                <a:spcPts val="0"/>
              </a:spcBef>
              <a:spcAft>
                <a:spcPts val="0"/>
              </a:spcAft>
              <a:buSzPts val="1700"/>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249124" y="272993"/>
            <a:ext cx="6879264" cy="455295"/>
          </a:xfrm>
          <a:prstGeom prst="rect">
            <a:avLst/>
          </a:prstGeom>
          <a:noFill/>
          <a:ln>
            <a:noFill/>
          </a:ln>
        </p:spPr>
        <p:txBody>
          <a:bodyPr spcFirstLastPara="1" wrap="square" lIns="0" tIns="12700" rIns="0" bIns="0" anchor="ctr" anchorCtr="0">
            <a:spAutoFit/>
          </a:bodyPr>
          <a:lstStyle/>
          <a:p>
            <a:r>
              <a:rPr lang="en-US" sz="3200" b="1" dirty="0">
                <a:solidFill>
                  <a:srgbClr val="04A2B9"/>
                </a:solidFill>
                <a:latin typeface="Times New Roman" panose="02020603050405020304" pitchFamily="18" charset="0"/>
                <a:cs typeface="Times New Roman" panose="02020603050405020304" pitchFamily="18" charset="0"/>
              </a:rPr>
              <a:t>Project Overview</a:t>
            </a:r>
          </a:p>
        </p:txBody>
      </p:sp>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sp>
        <p:nvSpPr>
          <p:cNvPr id="3" name="Google Shape;100;p3"/>
          <p:cNvSpPr txBox="1"/>
          <p:nvPr/>
        </p:nvSpPr>
        <p:spPr>
          <a:xfrm>
            <a:off x="422057" y="1166338"/>
            <a:ext cx="11142645" cy="3874770"/>
          </a:xfrm>
          <a:prstGeom prst="rect">
            <a:avLst/>
          </a:prstGeom>
          <a:noFill/>
          <a:ln>
            <a:noFill/>
          </a:ln>
        </p:spPr>
        <p:txBody>
          <a:bodyPr spcFirstLastPara="1" wrap="square" lIns="91425" tIns="91425" rIns="91425" bIns="91425" anchor="t" anchorCtr="0">
            <a:spAutoFit/>
          </a:bodyPr>
          <a:lstStyle/>
          <a:p>
            <a:pPr algn="just"/>
            <a:r>
              <a:rPr lang="en-US" sz="2400" dirty="0">
                <a:latin typeface="Times New Roman" panose="02020603050405020304"/>
              </a:rPr>
              <a:t>Goal: </a:t>
            </a:r>
            <a:r>
              <a:rPr lang="en-US" sz="2400" b="1" dirty="0">
                <a:latin typeface="Times New Roman" panose="02020603050405020304"/>
              </a:rPr>
              <a:t>Detect intruders by combining object detection (person/weapon) with behavior analysis</a:t>
            </a:r>
            <a:r>
              <a:rPr lang="en-US" sz="2400" dirty="0">
                <a:latin typeface="Times New Roman" panose="02020603050405020304"/>
              </a:rPr>
              <a:t>; raise an alert if weapon detected or behavior is suspicious. Datasets: </a:t>
            </a:r>
            <a:r>
              <a:rPr lang="en-US" sz="2400" b="1" err="1">
                <a:latin typeface="Times New Roman" panose="02020603050405020304"/>
              </a:rPr>
              <a:t>CrowdHuman</a:t>
            </a:r>
            <a:r>
              <a:rPr lang="en-US" sz="2400" dirty="0">
                <a:latin typeface="Times New Roman" panose="02020603050405020304"/>
              </a:rPr>
              <a:t> (persons) + </a:t>
            </a:r>
            <a:r>
              <a:rPr lang="en-US" sz="2400" b="1" err="1">
                <a:latin typeface="Times New Roman" panose="02020603050405020304"/>
              </a:rPr>
              <a:t>OpenImages</a:t>
            </a:r>
            <a:r>
              <a:rPr lang="en-US" sz="2400" dirty="0">
                <a:latin typeface="Times New Roman" panose="02020603050405020304"/>
              </a:rPr>
              <a:t> (Gun/Knife/Rifle). Output: annotated frames + alert status. </a:t>
            </a:r>
          </a:p>
          <a:p>
            <a:pPr algn="just"/>
            <a:endParaRPr lang="en-US" sz="2400" dirty="0">
              <a:latin typeface="Times New Roman" panose="02020603050405020304"/>
            </a:endParaRPr>
          </a:p>
          <a:p>
            <a:pPr algn="just"/>
            <a:r>
              <a:rPr lang="en-IN" altLang="en-US" sz="2400" dirty="0">
                <a:latin typeface="Times New Roman" panose="02020603050405020304"/>
              </a:rPr>
              <a:t>We are making this project so that we can able to identify the suspicious behaviour  which is recorded by different kinds of cameras through which we are using this CrowdHuman and Openv6 Images where we are combining these two datasets and converting into YOLO format and likewise we are applying the fusion of LBPH and CNN to classify those behaviours i.e. normal and suspicious. </a:t>
            </a:r>
            <a:endParaRPr lang="en-US" altLang="en-US" sz="2400" dirty="0">
              <a:latin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249124" y="272993"/>
            <a:ext cx="6879264" cy="455295"/>
          </a:xfrm>
          <a:prstGeom prst="rect">
            <a:avLst/>
          </a:prstGeom>
          <a:noFill/>
          <a:ln>
            <a:noFill/>
          </a:ln>
        </p:spPr>
        <p:txBody>
          <a:bodyPr spcFirstLastPara="1" wrap="square" lIns="0" tIns="12700" rIns="0" bIns="0" anchor="ctr" anchorCtr="0">
            <a:spAutoFit/>
          </a:bodyPr>
          <a:lstStyle/>
          <a:p>
            <a:r>
              <a:rPr lang="en-US" sz="3200" b="1" dirty="0">
                <a:solidFill>
                  <a:srgbClr val="04A2B9"/>
                </a:solidFill>
                <a:latin typeface="Times New Roman" panose="02020603050405020304" pitchFamily="18" charset="0"/>
                <a:cs typeface="Times New Roman" panose="02020603050405020304" pitchFamily="18" charset="0"/>
              </a:rPr>
              <a:t>IMPLEMENTATION</a:t>
            </a:r>
          </a:p>
        </p:txBody>
      </p:sp>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sp>
        <p:nvSpPr>
          <p:cNvPr id="3" name="Google Shape;100;p3"/>
          <p:cNvSpPr txBox="1"/>
          <p:nvPr/>
        </p:nvSpPr>
        <p:spPr>
          <a:xfrm>
            <a:off x="422057" y="1166338"/>
            <a:ext cx="11142645" cy="5109061"/>
          </a:xfrm>
          <a:prstGeom prst="rect">
            <a:avLst/>
          </a:prstGeom>
          <a:noFill/>
          <a:ln>
            <a:noFill/>
          </a:ln>
        </p:spPr>
        <p:txBody>
          <a:bodyPr spcFirstLastPara="1" wrap="square" lIns="91425" tIns="91425" rIns="91425" bIns="91425" anchor="t" anchorCtr="0">
            <a:spAutoFit/>
          </a:bodyPr>
          <a:lstStyle/>
          <a:p>
            <a:pPr marL="342900" indent="-342900">
              <a:buFont typeface="Arial" panose="020B0604020202020204" pitchFamily="34" charset="0"/>
              <a:buChar char="•"/>
            </a:pPr>
            <a:r>
              <a:rPr lang="en-US" sz="2000" b="1" dirty="0">
                <a:solidFill>
                  <a:schemeClr val="tx1"/>
                </a:solidFill>
                <a:latin typeface="Times New Roman" panose="02020603050405020304"/>
                <a:ea typeface="Calibri Light" panose="020F0302020204030204"/>
              </a:rPr>
              <a:t>Collect &amp; Prepare Data</a:t>
            </a:r>
            <a:endParaRPr lang="en-US" altLang="en-US" sz="2000" dirty="0">
              <a:solidFill>
                <a:schemeClr val="tx1"/>
              </a:solidFill>
              <a:latin typeface="Times New Roman" panose="02020603050405020304"/>
              <a:ea typeface="Calibri Light" panose="020F0302020204030204"/>
            </a:endParaRPr>
          </a:p>
          <a:p>
            <a:pPr marL="342900" indent="-342900">
              <a:buFont typeface="Arial" panose="020B0604020202020204" pitchFamily="34" charset="0"/>
              <a:buChar char="•"/>
            </a:pPr>
            <a:r>
              <a:rPr lang="en-US" sz="2000" dirty="0">
                <a:solidFill>
                  <a:schemeClr val="tx1"/>
                </a:solidFill>
                <a:latin typeface="Times New Roman" panose="02020603050405020304"/>
                <a:ea typeface="Calibri Light" panose="020F0302020204030204"/>
              </a:rPr>
              <a:t>Clone </a:t>
            </a:r>
            <a:r>
              <a:rPr lang="en-US" sz="2000" dirty="0" err="1">
                <a:solidFill>
                  <a:schemeClr val="tx1"/>
                </a:solidFill>
                <a:latin typeface="Times New Roman" panose="02020603050405020304"/>
                <a:ea typeface="Calibri Light" panose="020F0302020204030204"/>
              </a:rPr>
              <a:t>CrowdHuman</a:t>
            </a:r>
            <a:r>
              <a:rPr lang="en-US" sz="2000" dirty="0">
                <a:solidFill>
                  <a:schemeClr val="tx1"/>
                </a:solidFill>
                <a:latin typeface="Times New Roman" panose="02020603050405020304"/>
                <a:ea typeface="Calibri Light" panose="020F0302020204030204"/>
              </a:rPr>
              <a:t>; unzip images; parse .</a:t>
            </a:r>
            <a:r>
              <a:rPr lang="en-US" sz="2000" dirty="0" err="1">
                <a:solidFill>
                  <a:schemeClr val="tx1"/>
                </a:solidFill>
                <a:latin typeface="Times New Roman" panose="02020603050405020304"/>
                <a:ea typeface="Calibri Light" panose="020F0302020204030204"/>
              </a:rPr>
              <a:t>odgt</a:t>
            </a:r>
            <a:r>
              <a:rPr lang="en-US" sz="2000" dirty="0">
                <a:solidFill>
                  <a:schemeClr val="tx1"/>
                </a:solidFill>
                <a:latin typeface="Times New Roman" panose="02020603050405020304"/>
                <a:ea typeface="Calibri Light" panose="020F0302020204030204"/>
              </a:rPr>
              <a:t> → YOLO labels.</a:t>
            </a:r>
          </a:p>
          <a:p>
            <a:pPr marL="342900" indent="-342900">
              <a:buFont typeface="Arial" panose="020B0604020202020204" pitchFamily="34" charset="0"/>
              <a:buChar char="•"/>
            </a:pPr>
            <a:r>
              <a:rPr lang="en-US" sz="2000" dirty="0" err="1">
                <a:solidFill>
                  <a:schemeClr val="tx1"/>
                </a:solidFill>
                <a:latin typeface="Times New Roman" panose="02020603050405020304"/>
                <a:ea typeface="Calibri Light" panose="020F0302020204030204"/>
              </a:rPr>
              <a:t>FiftyOne</a:t>
            </a:r>
            <a:r>
              <a:rPr lang="en-US" sz="2000" dirty="0">
                <a:solidFill>
                  <a:schemeClr val="tx1"/>
                </a:solidFill>
                <a:latin typeface="Times New Roman" panose="02020603050405020304"/>
                <a:ea typeface="Calibri Light" panose="020F0302020204030204"/>
              </a:rPr>
              <a:t>: open-images-v6 with classes ["</a:t>
            </a:r>
            <a:r>
              <a:rPr lang="en-US" sz="2000" dirty="0" err="1">
                <a:solidFill>
                  <a:schemeClr val="tx1"/>
                </a:solidFill>
                <a:latin typeface="Times New Roman" panose="02020603050405020304"/>
                <a:ea typeface="Calibri Light" panose="020F0302020204030204"/>
              </a:rPr>
              <a:t>Gun","Knife","Rifle</a:t>
            </a:r>
            <a:r>
              <a:rPr lang="en-US" sz="2000" dirty="0">
                <a:solidFill>
                  <a:schemeClr val="tx1"/>
                </a:solidFill>
                <a:latin typeface="Times New Roman" panose="02020603050405020304"/>
                <a:ea typeface="Calibri Light" panose="020F0302020204030204"/>
              </a:rPr>
              <a:t>"], </a:t>
            </a:r>
            <a:r>
              <a:rPr lang="en-US" sz="2000" dirty="0" err="1">
                <a:solidFill>
                  <a:schemeClr val="tx1"/>
                </a:solidFill>
                <a:latin typeface="Times New Roman" panose="02020603050405020304"/>
                <a:ea typeface="Calibri Light" panose="020F0302020204030204"/>
              </a:rPr>
              <a:t>max_samples</a:t>
            </a:r>
            <a:r>
              <a:rPr lang="en-US" sz="2000" dirty="0">
                <a:solidFill>
                  <a:schemeClr val="tx1"/>
                </a:solidFill>
                <a:latin typeface="Times New Roman" panose="02020603050405020304"/>
                <a:ea typeface="Calibri Light" panose="020F0302020204030204"/>
              </a:rPr>
              <a:t>=5000; export images + labels.</a:t>
            </a:r>
          </a:p>
          <a:p>
            <a:pPr marL="342900" indent="-342900">
              <a:buFont typeface="Arial" panose="020B0604020202020204" pitchFamily="34" charset="0"/>
              <a:buChar char="•"/>
            </a:pPr>
            <a:r>
              <a:rPr lang="en-US" sz="2000" dirty="0">
                <a:solidFill>
                  <a:schemeClr val="tx1"/>
                </a:solidFill>
                <a:latin typeface="Times New Roman" panose="02020603050405020304"/>
                <a:ea typeface="Calibri Light" panose="020F0302020204030204"/>
              </a:rPr>
              <a:t>Create YAMLs, 80/20 split; optional 25% sampling.</a:t>
            </a:r>
          </a:p>
          <a:p>
            <a:pPr marL="342900" indent="-342900">
              <a:buFont typeface="Arial" panose="020B0604020202020204" pitchFamily="34" charset="0"/>
              <a:buChar char="•"/>
            </a:pPr>
            <a:r>
              <a:rPr lang="en-US" sz="2000" b="1" dirty="0">
                <a:solidFill>
                  <a:schemeClr val="tx1"/>
                </a:solidFill>
                <a:latin typeface="Times New Roman" panose="02020603050405020304"/>
                <a:ea typeface="Calibri Light" panose="020F0302020204030204"/>
              </a:rPr>
              <a:t>Train Detectors (YOLOv8n)</a:t>
            </a:r>
            <a:endParaRPr lang="en-US" sz="2000" dirty="0">
              <a:solidFill>
                <a:schemeClr val="tx1"/>
              </a:solidFill>
              <a:latin typeface="Times New Roman" panose="02020603050405020304"/>
              <a:ea typeface="Calibri Light" panose="020F0302020204030204"/>
            </a:endParaRPr>
          </a:p>
          <a:p>
            <a:pPr marL="342900" indent="-342900">
              <a:buFont typeface="Arial" panose="020B0604020202020204" pitchFamily="34" charset="0"/>
              <a:buChar char="•"/>
            </a:pPr>
            <a:r>
              <a:rPr lang="en-US" sz="2000" dirty="0" err="1">
                <a:solidFill>
                  <a:schemeClr val="tx1"/>
                </a:solidFill>
                <a:latin typeface="Times New Roman" panose="02020603050405020304"/>
                <a:ea typeface="Calibri Light" panose="020F0302020204030204"/>
              </a:rPr>
              <a:t>CrowdHuman</a:t>
            </a:r>
            <a:r>
              <a:rPr lang="en-US" sz="2000" dirty="0">
                <a:solidFill>
                  <a:schemeClr val="tx1"/>
                </a:solidFill>
                <a:latin typeface="Times New Roman" panose="02020603050405020304"/>
                <a:ea typeface="Calibri Light" panose="020F0302020204030204"/>
              </a:rPr>
              <a:t>: !yolo task=detect mode=train model=yolov8n.pt epochs=36 </a:t>
            </a:r>
            <a:r>
              <a:rPr lang="en-US" sz="2000" dirty="0" err="1">
                <a:solidFill>
                  <a:schemeClr val="tx1"/>
                </a:solidFill>
                <a:latin typeface="Times New Roman" panose="02020603050405020304"/>
                <a:ea typeface="Calibri Light" panose="020F0302020204030204"/>
              </a:rPr>
              <a:t>imgsz</a:t>
            </a:r>
            <a:r>
              <a:rPr lang="en-US" sz="2000" dirty="0">
                <a:solidFill>
                  <a:schemeClr val="tx1"/>
                </a:solidFill>
                <a:latin typeface="Times New Roman" panose="02020603050405020304"/>
                <a:ea typeface="Calibri Light" panose="020F0302020204030204"/>
              </a:rPr>
              <a:t>=640 batch=16</a:t>
            </a:r>
          </a:p>
          <a:p>
            <a:pPr marL="342900" indent="-342900">
              <a:buFont typeface="Arial" panose="020B0604020202020204" pitchFamily="34" charset="0"/>
              <a:buChar char="•"/>
            </a:pPr>
            <a:r>
              <a:rPr lang="en-US" sz="2000" dirty="0" err="1">
                <a:solidFill>
                  <a:schemeClr val="tx1"/>
                </a:solidFill>
                <a:latin typeface="Times New Roman" panose="02020603050405020304"/>
                <a:ea typeface="Calibri Light" panose="020F0302020204030204"/>
              </a:rPr>
              <a:t>OpenImages</a:t>
            </a:r>
            <a:r>
              <a:rPr lang="en-US" sz="2000" dirty="0">
                <a:solidFill>
                  <a:schemeClr val="tx1"/>
                </a:solidFill>
                <a:latin typeface="Times New Roman" panose="02020603050405020304"/>
                <a:ea typeface="Calibri Light" panose="020F0302020204030204"/>
              </a:rPr>
              <a:t>: !yolo task=detect mode=train model=yolov8n.pt epochs=50 </a:t>
            </a:r>
            <a:r>
              <a:rPr lang="en-US" sz="2000" dirty="0" err="1">
                <a:solidFill>
                  <a:schemeClr val="tx1"/>
                </a:solidFill>
                <a:latin typeface="Times New Roman" panose="02020603050405020304"/>
                <a:ea typeface="Calibri Light" panose="020F0302020204030204"/>
              </a:rPr>
              <a:t>imgsz</a:t>
            </a:r>
            <a:r>
              <a:rPr lang="en-US" sz="2000" dirty="0">
                <a:solidFill>
                  <a:schemeClr val="tx1"/>
                </a:solidFill>
                <a:latin typeface="Times New Roman" panose="02020603050405020304"/>
                <a:ea typeface="Calibri Light" panose="020F0302020204030204"/>
              </a:rPr>
              <a:t>=640 batch=16</a:t>
            </a:r>
          </a:p>
          <a:p>
            <a:pPr marL="342900" indent="-342900">
              <a:buFont typeface="Arial" panose="020B0604020202020204" pitchFamily="34" charset="0"/>
              <a:buChar char="•"/>
            </a:pPr>
            <a:r>
              <a:rPr lang="en-US" sz="2000" b="1" dirty="0">
                <a:solidFill>
                  <a:schemeClr val="tx1"/>
                </a:solidFill>
                <a:latin typeface="Times New Roman" panose="02020603050405020304"/>
                <a:ea typeface="Calibri Light" panose="020F0302020204030204"/>
              </a:rPr>
              <a:t>Run Inference &amp; Crop</a:t>
            </a:r>
            <a:endParaRPr lang="en-US" sz="2000" dirty="0">
              <a:solidFill>
                <a:schemeClr val="tx1"/>
              </a:solidFill>
              <a:latin typeface="Times New Roman" panose="02020603050405020304"/>
              <a:ea typeface="Calibri Light" panose="020F0302020204030204"/>
            </a:endParaRPr>
          </a:p>
          <a:p>
            <a:pPr marL="342900" indent="-342900">
              <a:buFont typeface="Arial" panose="020B0604020202020204" pitchFamily="34" charset="0"/>
              <a:buChar char="•"/>
            </a:pPr>
            <a:r>
              <a:rPr lang="en-US" sz="2000" dirty="0">
                <a:solidFill>
                  <a:schemeClr val="tx1"/>
                </a:solidFill>
                <a:latin typeface="Times New Roman" panose="02020603050405020304"/>
                <a:ea typeface="Calibri Light" panose="020F0302020204030204"/>
              </a:rPr>
              <a:t>Load best.pt for both models; detect; crop person ROIs.</a:t>
            </a:r>
          </a:p>
          <a:p>
            <a:pPr marL="342900" indent="-342900">
              <a:buFont typeface="Arial" panose="020B0604020202020204" pitchFamily="34" charset="0"/>
              <a:buChar char="•"/>
            </a:pPr>
            <a:r>
              <a:rPr lang="en-US" sz="2000" b="1" dirty="0">
                <a:solidFill>
                  <a:schemeClr val="tx1"/>
                </a:solidFill>
                <a:latin typeface="Times New Roman" panose="02020603050405020304"/>
                <a:ea typeface="Calibri Light" panose="020F0302020204030204"/>
              </a:rPr>
              <a:t>Train Hybrid Classifier</a:t>
            </a:r>
            <a:endParaRPr lang="en-US" sz="2000" dirty="0">
              <a:solidFill>
                <a:schemeClr val="tx1"/>
              </a:solidFill>
              <a:latin typeface="Times New Roman" panose="02020603050405020304"/>
              <a:ea typeface="Calibri Light" panose="020F0302020204030204"/>
            </a:endParaRPr>
          </a:p>
          <a:p>
            <a:pPr marL="342900" indent="-342900">
              <a:buFont typeface="Arial" panose="020B0604020202020204" pitchFamily="34" charset="0"/>
              <a:buChar char="•"/>
            </a:pPr>
            <a:r>
              <a:rPr lang="en-US" sz="2000" b="1" dirty="0">
                <a:solidFill>
                  <a:schemeClr val="tx1"/>
                </a:solidFill>
                <a:latin typeface="Times New Roman" panose="02020603050405020304"/>
                <a:ea typeface="Calibri Light" panose="020F0302020204030204"/>
              </a:rPr>
              <a:t>ResNet-18</a:t>
            </a:r>
            <a:r>
              <a:rPr lang="en-US" sz="2000" dirty="0">
                <a:solidFill>
                  <a:schemeClr val="tx1"/>
                </a:solidFill>
                <a:latin typeface="Times New Roman" panose="02020603050405020304"/>
                <a:ea typeface="Calibri Light" panose="020F0302020204030204"/>
              </a:rPr>
              <a:t> backbone (frozen optional) + </a:t>
            </a:r>
            <a:r>
              <a:rPr lang="en-US" sz="2000" b="1" dirty="0">
                <a:solidFill>
                  <a:schemeClr val="tx1"/>
                </a:solidFill>
                <a:latin typeface="Times New Roman" panose="02020603050405020304"/>
                <a:ea typeface="Calibri Light" panose="020F0302020204030204"/>
              </a:rPr>
              <a:t>LBPH</a:t>
            </a:r>
            <a:r>
              <a:rPr lang="en-US" sz="2000" dirty="0">
                <a:solidFill>
                  <a:schemeClr val="tx1"/>
                </a:solidFill>
                <a:latin typeface="Times New Roman" panose="02020603050405020304"/>
                <a:ea typeface="Calibri Light" panose="020F0302020204030204"/>
              </a:rPr>
              <a:t> → fusion → sigmoid.</a:t>
            </a:r>
          </a:p>
          <a:p>
            <a:pPr marL="342900" indent="-342900">
              <a:buFont typeface="Arial" panose="020B0604020202020204" pitchFamily="34" charset="0"/>
              <a:buChar char="•"/>
            </a:pPr>
            <a:r>
              <a:rPr lang="en-US" sz="2000" dirty="0">
                <a:solidFill>
                  <a:schemeClr val="tx1"/>
                </a:solidFill>
                <a:latin typeface="Times New Roman" panose="02020603050405020304"/>
                <a:ea typeface="Calibri Light" panose="020F0302020204030204"/>
              </a:rPr>
              <a:t>Loss: </a:t>
            </a:r>
            <a:r>
              <a:rPr lang="en-US" sz="2000" b="1" dirty="0" err="1">
                <a:solidFill>
                  <a:schemeClr val="tx1"/>
                </a:solidFill>
                <a:latin typeface="Times New Roman" panose="02020603050405020304"/>
                <a:ea typeface="Calibri Light" panose="020F0302020204030204"/>
              </a:rPr>
              <a:t>BCEWithLogits</a:t>
            </a:r>
            <a:r>
              <a:rPr lang="en-US" sz="2000" dirty="0">
                <a:solidFill>
                  <a:schemeClr val="tx1"/>
                </a:solidFill>
                <a:latin typeface="Times New Roman" panose="02020603050405020304"/>
                <a:ea typeface="Calibri Light" panose="020F0302020204030204"/>
              </a:rPr>
              <a:t>; Optim: </a:t>
            </a:r>
            <a:r>
              <a:rPr lang="en-US" sz="2000" b="1" dirty="0" err="1">
                <a:solidFill>
                  <a:schemeClr val="tx1"/>
                </a:solidFill>
                <a:latin typeface="Times New Roman" panose="02020603050405020304"/>
                <a:ea typeface="Calibri Light" panose="020F0302020204030204"/>
              </a:rPr>
              <a:t>AdamW</a:t>
            </a:r>
            <a:r>
              <a:rPr lang="en-US" sz="2000" dirty="0">
                <a:solidFill>
                  <a:schemeClr val="tx1"/>
                </a:solidFill>
                <a:latin typeface="Times New Roman" panose="02020603050405020304"/>
                <a:ea typeface="Calibri Light" panose="020F0302020204030204"/>
              </a:rPr>
              <a:t>; Scheduler: </a:t>
            </a:r>
            <a:r>
              <a:rPr lang="en-US" sz="2000" b="1" dirty="0" err="1">
                <a:solidFill>
                  <a:schemeClr val="tx1"/>
                </a:solidFill>
                <a:latin typeface="Times New Roman" panose="02020603050405020304"/>
                <a:ea typeface="Calibri Light" panose="020F0302020204030204"/>
              </a:rPr>
              <a:t>CosineAnnealingLR</a:t>
            </a:r>
            <a:r>
              <a:rPr lang="en-US" sz="2000" dirty="0">
                <a:solidFill>
                  <a:schemeClr val="tx1"/>
                </a:solidFill>
                <a:latin typeface="Times New Roman" panose="02020603050405020304"/>
                <a:ea typeface="Calibri Light" panose="020F0302020204030204"/>
              </a:rPr>
              <a:t>; </a:t>
            </a:r>
            <a:r>
              <a:rPr lang="en-US" sz="2000" b="1" dirty="0" err="1">
                <a:solidFill>
                  <a:schemeClr val="tx1"/>
                </a:solidFill>
                <a:latin typeface="Times New Roman" panose="02020603050405020304"/>
                <a:ea typeface="Calibri Light" panose="020F0302020204030204"/>
              </a:rPr>
              <a:t>WeightedRandomSampler</a:t>
            </a:r>
            <a:r>
              <a:rPr lang="en-US" sz="2000" dirty="0">
                <a:solidFill>
                  <a:schemeClr val="tx1"/>
                </a:solidFill>
                <a:latin typeface="Times New Roman" panose="02020603050405020304"/>
                <a:ea typeface="Calibri Light" panose="020F0302020204030204"/>
              </a:rPr>
              <a:t> for class balance.</a:t>
            </a:r>
          </a:p>
          <a:p>
            <a:pPr marL="342900" indent="-342900">
              <a:buFont typeface="Arial" panose="020B0604020202020204" pitchFamily="34" charset="0"/>
              <a:buChar char="•"/>
            </a:pPr>
            <a:r>
              <a:rPr lang="en-US" sz="2000" b="1" dirty="0">
                <a:solidFill>
                  <a:schemeClr val="tx1"/>
                </a:solidFill>
                <a:latin typeface="Times New Roman" panose="02020603050405020304"/>
                <a:ea typeface="Calibri Light" panose="020F0302020204030204"/>
              </a:rPr>
              <a:t>Decision &amp; Reporting</a:t>
            </a:r>
            <a:endParaRPr lang="en-US" sz="2000" dirty="0">
              <a:solidFill>
                <a:schemeClr val="tx1"/>
              </a:solidFill>
              <a:latin typeface="Times New Roman" panose="02020603050405020304"/>
              <a:ea typeface="Calibri Light" panose="020F0302020204030204"/>
            </a:endParaRPr>
          </a:p>
          <a:p>
            <a:pPr marL="342900" indent="-342900">
              <a:buFont typeface="Arial" panose="020B0604020202020204" pitchFamily="34" charset="0"/>
              <a:buChar char="•"/>
            </a:pPr>
            <a:r>
              <a:rPr lang="en-US" sz="2000" dirty="0">
                <a:solidFill>
                  <a:schemeClr val="tx1"/>
                </a:solidFill>
                <a:latin typeface="Times New Roman" panose="02020603050405020304"/>
                <a:ea typeface="Calibri Light" panose="020F0302020204030204"/>
              </a:rPr>
              <a:t>Intruder if weapon present or behavior suspicious; save overlays and CSV, emit alert flag.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249124" y="272993"/>
            <a:ext cx="6879264" cy="455295"/>
          </a:xfrm>
          <a:prstGeom prst="rect">
            <a:avLst/>
          </a:prstGeom>
          <a:noFill/>
          <a:ln>
            <a:noFill/>
          </a:ln>
        </p:spPr>
        <p:txBody>
          <a:bodyPr spcFirstLastPara="1" wrap="square" lIns="0" tIns="12700" rIns="0" bIns="0" anchor="ctr" anchorCtr="0">
            <a:spAutoFit/>
          </a:bodyPr>
          <a:lstStyle/>
          <a:p>
            <a:r>
              <a:rPr lang="en-US" sz="3200" b="1" dirty="0">
                <a:solidFill>
                  <a:srgbClr val="04A2B9"/>
                </a:solidFill>
                <a:latin typeface="Times New Roman" panose="02020603050405020304" pitchFamily="18" charset="0"/>
                <a:cs typeface="Times New Roman" panose="02020603050405020304" pitchFamily="18" charset="0"/>
              </a:rPr>
              <a:t>LITERATURE REVIEW</a:t>
            </a:r>
          </a:p>
        </p:txBody>
      </p:sp>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graphicFrame>
        <p:nvGraphicFramePr>
          <p:cNvPr id="4" name="Table 3"/>
          <p:cNvGraphicFramePr>
            <a:graphicFrameLocks noGrp="1"/>
          </p:cNvGraphicFramePr>
          <p:nvPr/>
        </p:nvGraphicFramePr>
        <p:xfrm>
          <a:off x="724285" y="1358074"/>
          <a:ext cx="10731172" cy="4643042"/>
        </p:xfrm>
        <a:graphic>
          <a:graphicData uri="http://schemas.openxmlformats.org/drawingml/2006/table">
            <a:tbl>
              <a:tblPr firstRow="1" bandRow="1">
                <a:noFill/>
                <a:tableStyleId>{5C22544A-7EE6-4342-B048-85BDC9FD1C3A}</a:tableStyleId>
              </a:tblPr>
              <a:tblGrid>
                <a:gridCol w="1208651">
                  <a:extLst>
                    <a:ext uri="{9D8B030D-6E8A-4147-A177-3AD203B41FA5}">
                      <a16:colId xmlns:a16="http://schemas.microsoft.com/office/drawing/2014/main" val="20000"/>
                    </a:ext>
                  </a:extLst>
                </a:gridCol>
                <a:gridCol w="811584">
                  <a:extLst>
                    <a:ext uri="{9D8B030D-6E8A-4147-A177-3AD203B41FA5}">
                      <a16:colId xmlns:a16="http://schemas.microsoft.com/office/drawing/2014/main" val="20001"/>
                    </a:ext>
                  </a:extLst>
                </a:gridCol>
                <a:gridCol w="2249891">
                  <a:extLst>
                    <a:ext uri="{9D8B030D-6E8A-4147-A177-3AD203B41FA5}">
                      <a16:colId xmlns:a16="http://schemas.microsoft.com/office/drawing/2014/main" val="20002"/>
                    </a:ext>
                  </a:extLst>
                </a:gridCol>
                <a:gridCol w="1566878">
                  <a:extLst>
                    <a:ext uri="{9D8B030D-6E8A-4147-A177-3AD203B41FA5}">
                      <a16:colId xmlns:a16="http://schemas.microsoft.com/office/drawing/2014/main" val="20003"/>
                    </a:ext>
                  </a:extLst>
                </a:gridCol>
                <a:gridCol w="2895450">
                  <a:extLst>
                    <a:ext uri="{9D8B030D-6E8A-4147-A177-3AD203B41FA5}">
                      <a16:colId xmlns:a16="http://schemas.microsoft.com/office/drawing/2014/main" val="20004"/>
                    </a:ext>
                  </a:extLst>
                </a:gridCol>
                <a:gridCol w="1998718">
                  <a:extLst>
                    <a:ext uri="{9D8B030D-6E8A-4147-A177-3AD203B41FA5}">
                      <a16:colId xmlns:a16="http://schemas.microsoft.com/office/drawing/2014/main" val="20005"/>
                    </a:ext>
                  </a:extLst>
                </a:gridCol>
              </a:tblGrid>
              <a:tr h="308393">
                <a:tc>
                  <a:txBody>
                    <a:bodyPr/>
                    <a:lstStyle/>
                    <a:p>
                      <a:pPr algn="ctr">
                        <a:buNone/>
                      </a:pPr>
                      <a:r>
                        <a:rPr lang="en-US" sz="900" b="1" cap="none" spc="0" dirty="0">
                          <a:solidFill>
                            <a:schemeClr val="bg1"/>
                          </a:solidFill>
                        </a:rPr>
                        <a:t>AUTHOR</a:t>
                      </a:r>
                    </a:p>
                  </a:txBody>
                  <a:tcPr marL="40568" marR="28977" marT="57955" marB="57955" anchor="ctr">
                    <a:lnL w="12700" cmpd="sng">
                      <a:noFill/>
                    </a:lnL>
                    <a:lnR w="12700" cmpd="sng">
                      <a:noFill/>
                    </a:lnR>
                    <a:lnT w="19050" cap="flat" cmpd="sng" algn="ctr">
                      <a:noFill/>
                      <a:prstDash val="solid"/>
                    </a:lnT>
                    <a:lnB w="38100" cmpd="sng">
                      <a:noFill/>
                    </a:lnB>
                    <a:solidFill>
                      <a:schemeClr val="tx1"/>
                    </a:solidFill>
                  </a:tcPr>
                </a:tc>
                <a:tc>
                  <a:txBody>
                    <a:bodyPr/>
                    <a:lstStyle/>
                    <a:p>
                      <a:pPr algn="ctr">
                        <a:buNone/>
                      </a:pPr>
                      <a:r>
                        <a:rPr lang="en-US" sz="900" b="1" cap="none" spc="0" dirty="0">
                          <a:solidFill>
                            <a:schemeClr val="bg1"/>
                          </a:solidFill>
                        </a:rPr>
                        <a:t>YEAR</a:t>
                      </a:r>
                    </a:p>
                  </a:txBody>
                  <a:tcPr marL="40568" marR="28977" marT="57955" marB="57955" anchor="ctr">
                    <a:lnL w="12700" cmpd="sng">
                      <a:noFill/>
                    </a:lnL>
                    <a:lnR w="12700" cmpd="sng">
                      <a:noFill/>
                    </a:lnR>
                    <a:lnT w="19050" cap="flat" cmpd="sng" algn="ctr">
                      <a:noFill/>
                      <a:prstDash val="solid"/>
                    </a:lnT>
                    <a:lnB w="38100" cmpd="sng">
                      <a:noFill/>
                    </a:lnB>
                    <a:solidFill>
                      <a:schemeClr val="tx1"/>
                    </a:solidFill>
                  </a:tcPr>
                </a:tc>
                <a:tc>
                  <a:txBody>
                    <a:bodyPr/>
                    <a:lstStyle/>
                    <a:p>
                      <a:pPr algn="ctr">
                        <a:buNone/>
                      </a:pPr>
                      <a:r>
                        <a:rPr lang="en-US" sz="900" b="1" cap="none" spc="0" dirty="0">
                          <a:solidFill>
                            <a:schemeClr val="bg1"/>
                          </a:solidFill>
                        </a:rPr>
                        <a:t>TITLE</a:t>
                      </a:r>
                    </a:p>
                  </a:txBody>
                  <a:tcPr marL="40568" marR="28977" marT="57955" marB="57955" anchor="ctr">
                    <a:lnL w="12700" cmpd="sng">
                      <a:noFill/>
                    </a:lnL>
                    <a:lnR w="12700" cmpd="sng">
                      <a:noFill/>
                    </a:lnR>
                    <a:lnT w="19050" cap="flat" cmpd="sng" algn="ctr">
                      <a:noFill/>
                      <a:prstDash val="solid"/>
                    </a:lnT>
                    <a:lnB w="38100" cmpd="sng">
                      <a:noFill/>
                    </a:lnB>
                    <a:solidFill>
                      <a:schemeClr val="tx1"/>
                    </a:solidFill>
                  </a:tcPr>
                </a:tc>
                <a:tc>
                  <a:txBody>
                    <a:bodyPr/>
                    <a:lstStyle/>
                    <a:p>
                      <a:pPr algn="ctr">
                        <a:buNone/>
                      </a:pPr>
                      <a:r>
                        <a:rPr lang="en-US" sz="900" b="1" cap="none" spc="0" dirty="0">
                          <a:solidFill>
                            <a:schemeClr val="bg1"/>
                          </a:solidFill>
                        </a:rPr>
                        <a:t>FOCUS</a:t>
                      </a:r>
                    </a:p>
                  </a:txBody>
                  <a:tcPr marL="40568" marR="28977" marT="57955" marB="57955" anchor="ctr">
                    <a:lnL w="12700" cmpd="sng">
                      <a:noFill/>
                    </a:lnL>
                    <a:lnR w="12700" cmpd="sng">
                      <a:noFill/>
                    </a:lnR>
                    <a:lnT w="19050" cap="flat" cmpd="sng" algn="ctr">
                      <a:noFill/>
                      <a:prstDash val="solid"/>
                    </a:lnT>
                    <a:lnB w="38100" cmpd="sng">
                      <a:noFill/>
                    </a:lnB>
                    <a:solidFill>
                      <a:schemeClr val="tx1"/>
                    </a:solidFill>
                  </a:tcPr>
                </a:tc>
                <a:tc>
                  <a:txBody>
                    <a:bodyPr/>
                    <a:lstStyle/>
                    <a:p>
                      <a:pPr algn="ctr">
                        <a:buNone/>
                      </a:pPr>
                      <a:r>
                        <a:rPr lang="en-US" sz="900" b="1" cap="none" spc="0" dirty="0">
                          <a:solidFill>
                            <a:schemeClr val="bg1"/>
                          </a:solidFill>
                        </a:rPr>
                        <a:t>FINDINGS</a:t>
                      </a:r>
                    </a:p>
                  </a:txBody>
                  <a:tcPr marL="40568" marR="28977" marT="57955" marB="57955" anchor="ctr">
                    <a:lnL w="12700" cmpd="sng">
                      <a:noFill/>
                    </a:lnL>
                    <a:lnR w="12700" cmpd="sng">
                      <a:noFill/>
                    </a:lnR>
                    <a:lnT w="19050" cap="flat" cmpd="sng" algn="ctr">
                      <a:noFill/>
                      <a:prstDash val="solid"/>
                    </a:lnT>
                    <a:lnB w="38100" cmpd="sng">
                      <a:noFill/>
                    </a:lnB>
                    <a:solidFill>
                      <a:schemeClr val="tx1"/>
                    </a:solidFill>
                  </a:tcPr>
                </a:tc>
                <a:tc>
                  <a:txBody>
                    <a:bodyPr/>
                    <a:lstStyle/>
                    <a:p>
                      <a:pPr algn="ctr">
                        <a:buNone/>
                      </a:pPr>
                      <a:r>
                        <a:rPr lang="en-US" sz="900" b="1" cap="none" spc="0" dirty="0">
                          <a:solidFill>
                            <a:schemeClr val="bg1"/>
                          </a:solidFill>
                        </a:rPr>
                        <a:t>GAPS</a:t>
                      </a:r>
                    </a:p>
                  </a:txBody>
                  <a:tcPr marL="40568" marR="28977" marT="57955" marB="57955"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10000"/>
                  </a:ext>
                </a:extLst>
              </a:tr>
              <a:tr h="394059">
                <a:tc>
                  <a:txBody>
                    <a:bodyPr/>
                    <a:lstStyle/>
                    <a:p>
                      <a:pPr algn="ctr">
                        <a:buNone/>
                      </a:pPr>
                      <a:r>
                        <a:rPr lang="en-US" sz="800" cap="none" spc="0" dirty="0">
                          <a:solidFill>
                            <a:schemeClr val="tx1"/>
                          </a:solidFill>
                        </a:rPr>
                        <a:t>Patel et al.</a:t>
                      </a:r>
                    </a:p>
                  </a:txBody>
                  <a:tcPr marL="40568" marR="28977" marT="28977" marB="57955"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lgn="ctr">
                        <a:buNone/>
                      </a:pPr>
                      <a:r>
                        <a:rPr lang="en-US" sz="800" cap="none" spc="0" dirty="0">
                          <a:solidFill>
                            <a:schemeClr val="tx1"/>
                          </a:solidFill>
                        </a:rPr>
                        <a:t>2023</a:t>
                      </a:r>
                    </a:p>
                  </a:txBody>
                  <a:tcPr marL="40568" marR="28977" marT="28977" marB="57955"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lgn="ctr">
                        <a:buNone/>
                      </a:pPr>
                      <a:r>
                        <a:rPr lang="en-US" sz="800" cap="none" spc="0" dirty="0">
                          <a:solidFill>
                            <a:schemeClr val="tx1"/>
                          </a:solidFill>
                        </a:rPr>
                        <a:t>Real-Time Weapon Detection and Alerting System Using YOLOv7</a:t>
                      </a:r>
                    </a:p>
                  </a:txBody>
                  <a:tcPr marL="40568" marR="28977" marT="28977" marB="57955"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lgn="ctr">
                        <a:buNone/>
                      </a:pPr>
                      <a:r>
                        <a:rPr lang="en-US" sz="800" cap="none" spc="0" dirty="0">
                          <a:solidFill>
                            <a:schemeClr val="tx1"/>
                          </a:solidFill>
                        </a:rPr>
                        <a:t>Gun detection in public using YOLOv7</a:t>
                      </a:r>
                    </a:p>
                  </a:txBody>
                  <a:tcPr marL="40568" marR="28977" marT="28977" marB="57955" anchor="ctr">
                    <a:lnL w="12700" cmpd="sng">
                      <a:noFill/>
                      <a:prstDash val="solid"/>
                    </a:lnL>
                    <a:lnR w="12700" cmpd="sng">
                      <a:noFill/>
                      <a:prstDash val="solid"/>
                    </a:lnR>
                    <a:lnT w="38100" cmpd="sng">
                      <a:noFill/>
                    </a:lnT>
                    <a:lnB w="12700" cap="flat" cmpd="sng" algn="ctr">
                      <a:solidFill>
                        <a:schemeClr val="tx1"/>
                      </a:solidFill>
                      <a:prstDash val="solid"/>
                      <a:round/>
                      <a:headEnd type="none" w="med" len="med"/>
                      <a:tailEnd type="none" w="med" len="med"/>
                    </a:lnB>
                    <a:noFill/>
                  </a:tcPr>
                </a:tc>
                <a:tc>
                  <a:txBody>
                    <a:bodyPr/>
                    <a:lstStyle/>
                    <a:p>
                      <a:pPr algn="ctr">
                        <a:buNone/>
                      </a:pPr>
                      <a:r>
                        <a:rPr lang="en-US" sz="800" cap="none" spc="0" dirty="0">
                          <a:solidFill>
                            <a:schemeClr val="tx1"/>
                          </a:solidFill>
                        </a:rPr>
                        <a:t>YOLOv7 achieved high </a:t>
                      </a:r>
                      <a:r>
                        <a:rPr lang="en-US" sz="800" cap="none" spc="0" err="1">
                          <a:solidFill>
                            <a:schemeClr val="tx1"/>
                          </a:solidFill>
                        </a:rPr>
                        <a:t>mAP</a:t>
                      </a:r>
                      <a:r>
                        <a:rPr lang="en-US" sz="800" cap="none" spc="0" dirty="0">
                          <a:solidFill>
                            <a:schemeClr val="tx1"/>
                          </a:solidFill>
                        </a:rPr>
                        <a:t> in real-time detection on Gun-14K + </a:t>
                      </a:r>
                      <a:r>
                        <a:rPr lang="en-US" sz="800" cap="none" spc="0" err="1">
                          <a:solidFill>
                            <a:schemeClr val="tx1"/>
                          </a:solidFill>
                        </a:rPr>
                        <a:t>OpenImages</a:t>
                      </a:r>
                      <a:endParaRPr lang="en-US" sz="800" cap="none" spc="0" dirty="0" err="1">
                        <a:solidFill>
                          <a:schemeClr val="tx1"/>
                        </a:solidFill>
                      </a:endParaRPr>
                    </a:p>
                  </a:txBody>
                  <a:tcPr marL="40568" marR="28977" marT="28977" marB="57955"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lgn="ctr">
                        <a:buNone/>
                      </a:pPr>
                      <a:r>
                        <a:rPr lang="en-US" sz="800" cap="none" spc="0" dirty="0">
                          <a:solidFill>
                            <a:schemeClr val="tx1"/>
                          </a:solidFill>
                        </a:rPr>
                        <a:t>Limited to visible weapons only; no facial identification</a:t>
                      </a:r>
                    </a:p>
                  </a:txBody>
                  <a:tcPr marL="40568" marR="28977" marT="28977" marB="57955" anchor="ctr">
                    <a:lnL w="12700" cmpd="sng">
                      <a:noFill/>
                      <a:prstDash val="solid"/>
                    </a:lnL>
                    <a:lnR w="12700" cmpd="sng">
                      <a:noFill/>
                      <a:prstDash val="solid"/>
                    </a:lnR>
                    <a:lnT w="38100" cmpd="sng">
                      <a:noFill/>
                    </a:lnT>
                    <a:lnB w="12700" cap="flat" cmpd="sng" algn="ctr">
                      <a:solidFill>
                        <a:schemeClr val="tx1"/>
                      </a:solidFill>
                      <a:prstDash val="solid"/>
                    </a:lnB>
                    <a:noFill/>
                  </a:tcPr>
                </a:tc>
                <a:extLst>
                  <a:ext uri="{0D108BD9-81ED-4DB2-BD59-A6C34878D82A}">
                    <a16:rowId xmlns:a16="http://schemas.microsoft.com/office/drawing/2014/main" val="10001"/>
                  </a:ext>
                </a:extLst>
              </a:tr>
              <a:tr h="394059">
                <a:tc>
                  <a:txBody>
                    <a:bodyPr/>
                    <a:lstStyle/>
                    <a:p>
                      <a:pPr algn="ctr">
                        <a:buNone/>
                      </a:pPr>
                      <a:r>
                        <a:rPr lang="en-US" sz="800" cap="none" spc="0" dirty="0">
                          <a:solidFill>
                            <a:schemeClr val="tx1"/>
                          </a:solidFill>
                        </a:rPr>
                        <a:t>Khan et al.</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2022</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Detection of Guns and Knives Images Based on YOLOv7</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Detection of small weapons</a:t>
                      </a:r>
                    </a:p>
                  </a:txBody>
                  <a:tcPr marL="40568" marR="28977" marT="28977" marB="57955"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Improved detection of concealed weapons using dense training data</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Lacks person-specific threat identification</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394059">
                <a:tc>
                  <a:txBody>
                    <a:bodyPr/>
                    <a:lstStyle/>
                    <a:p>
                      <a:pPr algn="ctr">
                        <a:buNone/>
                      </a:pPr>
                      <a:r>
                        <a:rPr lang="en-US" sz="800" cap="none" spc="0" dirty="0">
                          <a:solidFill>
                            <a:schemeClr val="tx1"/>
                          </a:solidFill>
                        </a:rPr>
                        <a:t>Verma &amp; Sharma</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2024</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A Multi-Weapon Detection Using Deep Learning</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Multi-class weapon detection</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noFill/>
                  </a:tcPr>
                </a:tc>
                <a:tc>
                  <a:txBody>
                    <a:bodyPr/>
                    <a:lstStyle/>
                    <a:p>
                      <a:pPr algn="ctr">
                        <a:buNone/>
                      </a:pPr>
                      <a:r>
                        <a:rPr lang="en-US" sz="800" cap="none" spc="0" dirty="0">
                          <a:solidFill>
                            <a:schemeClr val="tx1"/>
                          </a:solidFill>
                        </a:rPr>
                        <a:t>Model distinguishes between pistols, rifles, and knives with good accuracy</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Not integrated with real-time alerting systems</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0003"/>
                  </a:ext>
                </a:extLst>
              </a:tr>
              <a:tr h="394059">
                <a:tc>
                  <a:txBody>
                    <a:bodyPr/>
                    <a:lstStyle/>
                    <a:p>
                      <a:pPr algn="ctr">
                        <a:buNone/>
                      </a:pPr>
                      <a:r>
                        <a:rPr lang="en-US" sz="800" cap="none" spc="0" dirty="0">
                          <a:solidFill>
                            <a:schemeClr val="tx1"/>
                          </a:solidFill>
                        </a:rPr>
                        <a:t>Gupta et al.</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2023</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YOLOv7/v8 Weapon Detection Benchmark</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Comparing YOLO versions for gun detection</a:t>
                      </a:r>
                    </a:p>
                  </a:txBody>
                  <a:tcPr marL="40568" marR="28977" marT="28977" marB="57955"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YOLOv8 showed better speed-accuracy trade-off over YOLOv7</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Dataset diversity (angle, lighting) needs improvement</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394059">
                <a:tc>
                  <a:txBody>
                    <a:bodyPr/>
                    <a:lstStyle/>
                    <a:p>
                      <a:pPr algn="ctr">
                        <a:buNone/>
                      </a:pPr>
                      <a:r>
                        <a:rPr lang="en-US" sz="800" cap="none" spc="0" dirty="0">
                          <a:solidFill>
                            <a:schemeClr val="tx1"/>
                          </a:solidFill>
                        </a:rPr>
                        <a:t>Reddy et al.</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2022</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Anomaly Recognition from Surveillance Videos using 3D </a:t>
                      </a:r>
                      <a:r>
                        <a:rPr lang="en-US" sz="800" cap="none" spc="0" err="1">
                          <a:solidFill>
                            <a:schemeClr val="tx1"/>
                          </a:solidFill>
                        </a:rPr>
                        <a:t>ConvNets</a:t>
                      </a:r>
                      <a:endParaRPr lang="en-US" sz="800" cap="none" spc="0" dirty="0" err="1">
                        <a:solidFill>
                          <a:schemeClr val="tx1"/>
                        </a:solidFill>
                      </a:endParaRP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Temporal anomaly detection in CCTV</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noFill/>
                  </a:tcPr>
                </a:tc>
                <a:tc>
                  <a:txBody>
                    <a:bodyPr/>
                    <a:lstStyle/>
                    <a:p>
                      <a:pPr algn="ctr">
                        <a:buNone/>
                      </a:pPr>
                      <a:r>
                        <a:rPr lang="en-US" sz="800" cap="none" spc="0" dirty="0">
                          <a:solidFill>
                            <a:schemeClr val="tx1"/>
                          </a:solidFill>
                        </a:rPr>
                        <a:t>3D CNN captures </a:t>
                      </a:r>
                      <a:r>
                        <a:rPr lang="en-US" sz="800" cap="none" spc="0" err="1">
                          <a:solidFill>
                            <a:schemeClr val="tx1"/>
                          </a:solidFill>
                        </a:rPr>
                        <a:t>spatio</a:t>
                      </a:r>
                      <a:r>
                        <a:rPr lang="en-US" sz="800" cap="none" spc="0" dirty="0">
                          <a:solidFill>
                            <a:schemeClr val="tx1"/>
                          </a:solidFill>
                        </a:rPr>
                        <a:t>-temporal anomalies with high precision on UCF-Crime</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Not optimized for real-time applications</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0005"/>
                  </a:ext>
                </a:extLst>
              </a:tr>
              <a:tr h="394059">
                <a:tc>
                  <a:txBody>
                    <a:bodyPr/>
                    <a:lstStyle/>
                    <a:p>
                      <a:pPr algn="ctr">
                        <a:buNone/>
                      </a:pPr>
                      <a:r>
                        <a:rPr lang="en-US" sz="800" cap="none" spc="0" dirty="0">
                          <a:solidFill>
                            <a:schemeClr val="tx1"/>
                          </a:solidFill>
                        </a:rPr>
                        <a:t>Zhang et al.</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2021</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Anomaly Detection in Surveillance Videos on Terminal Devices</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Lightweight video anomaly detection</a:t>
                      </a:r>
                    </a:p>
                  </a:txBody>
                  <a:tcPr marL="40568" marR="28977" marT="28977" marB="57955"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Proposed CNN model works on mobile devices for anomaly spotting</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Accuracy reduced in crowded scenes</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6"/>
                  </a:ext>
                </a:extLst>
              </a:tr>
              <a:tr h="394059">
                <a:tc>
                  <a:txBody>
                    <a:bodyPr/>
                    <a:lstStyle/>
                    <a:p>
                      <a:pPr algn="ctr">
                        <a:buNone/>
                      </a:pPr>
                      <a:r>
                        <a:rPr lang="en-US" sz="800" cap="none" spc="0" dirty="0">
                          <a:solidFill>
                            <a:schemeClr val="tx1"/>
                          </a:solidFill>
                        </a:rPr>
                        <a:t>Singh et al.</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2023</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err="1">
                          <a:solidFill>
                            <a:schemeClr val="tx1"/>
                          </a:solidFill>
                        </a:rPr>
                        <a:t>SurveillanceNet</a:t>
                      </a:r>
                      <a:r>
                        <a:rPr lang="en-US" sz="800" cap="none" spc="0" dirty="0">
                          <a:solidFill>
                            <a:schemeClr val="tx1"/>
                          </a:solidFill>
                        </a:rPr>
                        <a:t>: </a:t>
                      </a:r>
                      <a:r>
                        <a:rPr lang="en-US" sz="800" cap="none" spc="0" err="1">
                          <a:solidFill>
                            <a:schemeClr val="tx1"/>
                          </a:solidFill>
                        </a:rPr>
                        <a:t>Spatio</a:t>
                      </a:r>
                      <a:r>
                        <a:rPr lang="en-US" sz="800" cap="none" spc="0" dirty="0">
                          <a:solidFill>
                            <a:schemeClr val="tx1"/>
                          </a:solidFill>
                        </a:rPr>
                        <a:t>‑temporal Anomaly Detection</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Combined CNN-RNN for anomaly detection</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noFill/>
                  </a:tcPr>
                </a:tc>
                <a:tc>
                  <a:txBody>
                    <a:bodyPr/>
                    <a:lstStyle/>
                    <a:p>
                      <a:pPr algn="ctr">
                        <a:buNone/>
                      </a:pPr>
                      <a:r>
                        <a:rPr lang="en-US" sz="800" cap="none" spc="0" dirty="0">
                          <a:solidFill>
                            <a:schemeClr val="tx1"/>
                          </a:solidFill>
                        </a:rPr>
                        <a:t>Real-time detection of suspicious activities using UCF-Crime</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Not integrated with face detection or alerts</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0007"/>
                  </a:ext>
                </a:extLst>
              </a:tr>
              <a:tr h="394059">
                <a:tc>
                  <a:txBody>
                    <a:bodyPr/>
                    <a:lstStyle/>
                    <a:p>
                      <a:pPr algn="ctr">
                        <a:buNone/>
                      </a:pPr>
                      <a:r>
                        <a:rPr lang="en-US" sz="800" cap="none" spc="0" dirty="0">
                          <a:solidFill>
                            <a:schemeClr val="tx1"/>
                          </a:solidFill>
                        </a:rPr>
                        <a:t>Lopez &amp; Wang</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2022</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Efficient Anomaly Detection in Surveillance</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Efficient CCTV anomaly detection</a:t>
                      </a:r>
                    </a:p>
                  </a:txBody>
                  <a:tcPr marL="40568" marR="28977" marT="28977" marB="57955"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Achieved faster detection with optimized CNN layers</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Doesn’t include object/person detection</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8"/>
                  </a:ext>
                </a:extLst>
              </a:tr>
              <a:tr h="394059">
                <a:tc>
                  <a:txBody>
                    <a:bodyPr/>
                    <a:lstStyle/>
                    <a:p>
                      <a:pPr algn="ctr">
                        <a:buNone/>
                      </a:pPr>
                      <a:r>
                        <a:rPr lang="en-US" sz="800" cap="none" spc="0" dirty="0">
                          <a:solidFill>
                            <a:schemeClr val="tx1"/>
                          </a:solidFill>
                        </a:rPr>
                        <a:t>Shu et al.</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2019</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err="1">
                          <a:solidFill>
                            <a:schemeClr val="tx1"/>
                          </a:solidFill>
                        </a:rPr>
                        <a:t>CrowdHuman</a:t>
                      </a:r>
                      <a:r>
                        <a:rPr lang="en-US" sz="800" cap="none" spc="0" dirty="0">
                          <a:solidFill>
                            <a:schemeClr val="tx1"/>
                          </a:solidFill>
                        </a:rPr>
                        <a:t>: A Benchmark for Detecting Human in a Crowd</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Human detection in crowded environments</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noFill/>
                  </a:tcPr>
                </a:tc>
                <a:tc>
                  <a:txBody>
                    <a:bodyPr/>
                    <a:lstStyle/>
                    <a:p>
                      <a:pPr algn="ctr">
                        <a:buNone/>
                      </a:pPr>
                      <a:r>
                        <a:rPr lang="en-US" sz="800" cap="none" spc="0" dirty="0">
                          <a:solidFill>
                            <a:schemeClr val="tx1"/>
                          </a:solidFill>
                        </a:rPr>
                        <a:t>YOLO-based models struggled with occlusion; proposed multi-anchor strategy</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buNone/>
                      </a:pPr>
                      <a:r>
                        <a:rPr lang="en-US" sz="800" cap="none" spc="0" dirty="0">
                          <a:solidFill>
                            <a:schemeClr val="tx1"/>
                          </a:solidFill>
                        </a:rPr>
                        <a:t>Struggles with partial occlusion under low-light</a:t>
                      </a:r>
                    </a:p>
                  </a:txBody>
                  <a:tcPr marL="40568" marR="28977" marT="28977" marB="5795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0009"/>
                  </a:ext>
                </a:extLst>
              </a:tr>
              <a:tr h="394059">
                <a:tc>
                  <a:txBody>
                    <a:bodyPr/>
                    <a:lstStyle/>
                    <a:p>
                      <a:pPr algn="ctr">
                        <a:buNone/>
                      </a:pPr>
                      <a:r>
                        <a:rPr lang="en-US" sz="800" cap="none" spc="0" dirty="0">
                          <a:solidFill>
                            <a:schemeClr val="tx1"/>
                          </a:solidFill>
                        </a:rPr>
                        <a:t>Xu et al.</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2023</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PP-YOLOE: An Evolved Version of YOLO for Object Detection</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Enhanced YOLO for general object detection</a:t>
                      </a:r>
                    </a:p>
                  </a:txBody>
                  <a:tcPr marL="40568" marR="28977" marT="28977" marB="57955"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Better balance between accuracy and speed than YOLOv5</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buNone/>
                      </a:pPr>
                      <a:r>
                        <a:rPr lang="en-US" sz="800" cap="none" spc="0" dirty="0">
                          <a:solidFill>
                            <a:schemeClr val="tx1"/>
                          </a:solidFill>
                        </a:rPr>
                        <a:t>Generalized model — not focused on threats or intrusions</a:t>
                      </a:r>
                    </a:p>
                  </a:txBody>
                  <a:tcPr marL="40568" marR="28977" marT="28977" marB="5795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10"/>
                  </a:ext>
                </a:extLst>
              </a:tr>
              <a:tr h="394059">
                <a:tc>
                  <a:txBody>
                    <a:bodyPr/>
                    <a:lstStyle/>
                    <a:p>
                      <a:pPr algn="ctr">
                        <a:buNone/>
                      </a:pPr>
                      <a:r>
                        <a:rPr lang="en-US" sz="800" cap="none" spc="0" dirty="0">
                          <a:solidFill>
                            <a:schemeClr val="tx1"/>
                          </a:solidFill>
                        </a:rPr>
                        <a:t>Nguyen et al.</a:t>
                      </a:r>
                    </a:p>
                  </a:txBody>
                  <a:tcPr marL="40568" marR="28977" marT="28977" marB="57955"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buNone/>
                      </a:pPr>
                      <a:r>
                        <a:rPr lang="en-US" sz="800" cap="none" spc="0" dirty="0">
                          <a:solidFill>
                            <a:schemeClr val="tx1"/>
                          </a:solidFill>
                        </a:rPr>
                        <a:t>2017</a:t>
                      </a:r>
                    </a:p>
                  </a:txBody>
                  <a:tcPr marL="40568" marR="28977" marT="28977" marB="57955"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buNone/>
                      </a:pPr>
                      <a:r>
                        <a:rPr lang="en-US" sz="800" cap="none" spc="0" dirty="0">
                          <a:solidFill>
                            <a:schemeClr val="tx1"/>
                          </a:solidFill>
                        </a:rPr>
                        <a:t>A Large-Scale Benchmark Dataset for Event Recognition (VIRAT)</a:t>
                      </a:r>
                    </a:p>
                  </a:txBody>
                  <a:tcPr marL="40568" marR="28977" marT="28977" marB="57955"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buNone/>
                      </a:pPr>
                      <a:r>
                        <a:rPr lang="en-US" sz="800" cap="none" spc="0" dirty="0">
                          <a:solidFill>
                            <a:schemeClr val="tx1"/>
                          </a:solidFill>
                        </a:rPr>
                        <a:t>Event recognition in surveillance</a:t>
                      </a:r>
                    </a:p>
                  </a:txBody>
                  <a:tcPr marL="40568" marR="28977" marT="28977" marB="57955"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buNone/>
                      </a:pPr>
                      <a:r>
                        <a:rPr lang="en-US" sz="800" cap="none" spc="0" dirty="0">
                          <a:solidFill>
                            <a:schemeClr val="tx1"/>
                          </a:solidFill>
                        </a:rPr>
                        <a:t>VIRAT enables activity recognition like running, walking, carrying objects</a:t>
                      </a:r>
                    </a:p>
                  </a:txBody>
                  <a:tcPr marL="40568" marR="28977" marT="28977" marB="57955"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buNone/>
                      </a:pPr>
                      <a:r>
                        <a:rPr lang="en-US" sz="800" cap="none" spc="0" dirty="0">
                          <a:solidFill>
                            <a:schemeClr val="tx1"/>
                          </a:solidFill>
                        </a:rPr>
                        <a:t>No integration with object or weapon detection</a:t>
                      </a:r>
                    </a:p>
                  </a:txBody>
                  <a:tcPr marL="40568" marR="28977" marT="28977" marB="5795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249124" y="272993"/>
            <a:ext cx="6879264" cy="455295"/>
          </a:xfrm>
          <a:prstGeom prst="rect">
            <a:avLst/>
          </a:prstGeom>
          <a:noFill/>
          <a:ln>
            <a:noFill/>
          </a:ln>
        </p:spPr>
        <p:txBody>
          <a:bodyPr spcFirstLastPara="1" wrap="square" lIns="0" tIns="12700" rIns="0" bIns="0" anchor="ctr" anchorCtr="0">
            <a:spAutoFit/>
          </a:bodyPr>
          <a:lstStyle/>
          <a:p>
            <a:r>
              <a:rPr lang="en-US" sz="3200" b="1" dirty="0">
                <a:solidFill>
                  <a:srgbClr val="04A2B9"/>
                </a:solidFill>
                <a:latin typeface="Times New Roman" panose="02020603050405020304" pitchFamily="18" charset="0"/>
                <a:cs typeface="Times New Roman" panose="02020603050405020304" pitchFamily="18" charset="0"/>
              </a:rPr>
              <a:t>WORKFLOW</a:t>
            </a:r>
          </a:p>
        </p:txBody>
      </p:sp>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pic>
        <p:nvPicPr>
          <p:cNvPr id="2" name="Picture 1"/>
          <p:cNvPicPr>
            <a:picLocks noChangeAspect="1"/>
          </p:cNvPicPr>
          <p:nvPr/>
        </p:nvPicPr>
        <p:blipFill>
          <a:blip r:embed="rId4"/>
          <a:stretch>
            <a:fillRect/>
          </a:stretch>
        </p:blipFill>
        <p:spPr>
          <a:xfrm>
            <a:off x="4267100" y="1166091"/>
            <a:ext cx="3149799" cy="52762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646634" y="330143"/>
            <a:ext cx="6879264" cy="455295"/>
          </a:xfrm>
          <a:prstGeom prst="rect">
            <a:avLst/>
          </a:prstGeom>
          <a:noFill/>
          <a:ln>
            <a:noFill/>
          </a:ln>
        </p:spPr>
        <p:txBody>
          <a:bodyPr spcFirstLastPara="1" wrap="square" lIns="0" tIns="12700" rIns="0" bIns="0" anchor="ctr" anchorCtr="0">
            <a:spAutoFit/>
          </a:bodyPr>
          <a:lstStyle/>
          <a:p>
            <a:r>
              <a:rPr lang="en-IN" altLang="en-US" sz="3200" b="1" dirty="0">
                <a:solidFill>
                  <a:srgbClr val="04A2B9"/>
                </a:solidFill>
                <a:latin typeface="Times New Roman" panose="02020603050405020304" pitchFamily="18" charset="0"/>
                <a:cs typeface="Times New Roman" panose="02020603050405020304" pitchFamily="18" charset="0"/>
              </a:rPr>
              <a:t>MODEL ARCHITECTURE</a:t>
            </a:r>
          </a:p>
        </p:txBody>
      </p:sp>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pic>
        <p:nvPicPr>
          <p:cNvPr id="3" name="Picture 2" descr="Untitled Diagram"/>
          <p:cNvPicPr>
            <a:picLocks noChangeAspect="1"/>
          </p:cNvPicPr>
          <p:nvPr/>
        </p:nvPicPr>
        <p:blipFill>
          <a:blip r:embed="rId4"/>
          <a:stretch>
            <a:fillRect/>
          </a:stretch>
        </p:blipFill>
        <p:spPr>
          <a:xfrm>
            <a:off x="723265" y="1365885"/>
            <a:ext cx="10744835" cy="4699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sp>
        <p:nvSpPr>
          <p:cNvPr id="5" name="Google Shape;99;p3"/>
          <p:cNvSpPr txBox="1">
            <a:spLocks noGrp="1"/>
          </p:cNvSpPr>
          <p:nvPr/>
        </p:nvSpPr>
        <p:spPr>
          <a:xfrm>
            <a:off x="534035" y="248285"/>
            <a:ext cx="6836410" cy="504825"/>
          </a:xfrm>
          <a:prstGeom prst="rect">
            <a:avLst/>
          </a:prstGeom>
          <a:noFill/>
          <a:ln>
            <a:noFill/>
          </a:ln>
        </p:spPr>
        <p:txBody>
          <a:bodyPr spcFirstLastPara="1" wrap="square" lIns="0" tIns="12700" rIns="0" bIns="0" anchor="ctr"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12700" lvl="0" indent="0" algn="l" rtl="0">
              <a:lnSpc>
                <a:spcPct val="100000"/>
              </a:lnSpc>
              <a:spcBef>
                <a:spcPts val="0"/>
              </a:spcBef>
              <a:spcAft>
                <a:spcPts val="0"/>
              </a:spcAft>
              <a:buClr>
                <a:srgbClr val="04A2B9"/>
              </a:buClr>
              <a:buSzPts val="2400"/>
              <a:buFont typeface="Proxima Nova" panose="02000506030000020004"/>
              <a:buNone/>
            </a:pPr>
            <a:r>
              <a:rPr lang="en-IN" altLang="en-US" sz="3200" b="1" dirty="0">
                <a:solidFill>
                  <a:srgbClr val="04A2B9"/>
                </a:solidFill>
                <a:latin typeface="Times New Roman" panose="02020603050405020304" pitchFamily="18" charset="0"/>
                <a:cs typeface="Times New Roman" panose="02020603050405020304" pitchFamily="18" charset="0"/>
                <a:sym typeface="+mn-ea"/>
              </a:rPr>
              <a:t>DATA PREPROCESING</a:t>
            </a:r>
            <a:endParaRPr lang="en-US" sz="3200" dirty="0">
              <a:latin typeface="Times New Roman" panose="02020603050405020304" pitchFamily="18" charset="0"/>
              <a:ea typeface="Proxima Nova" panose="02000506030000020004"/>
              <a:cs typeface="Times New Roman" panose="02020603050405020304" pitchFamily="18" charset="0"/>
              <a:sym typeface="Proxima Nova" panose="02000506030000020004"/>
            </a:endParaRPr>
          </a:p>
        </p:txBody>
      </p:sp>
      <p:sp>
        <p:nvSpPr>
          <p:cNvPr id="6" name="Google Shape;100;p3"/>
          <p:cNvSpPr txBox="1"/>
          <p:nvPr/>
        </p:nvSpPr>
        <p:spPr>
          <a:xfrm>
            <a:off x="448242" y="1053203"/>
            <a:ext cx="11295516" cy="547497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342900" indent="-342900">
              <a:buFont typeface="Arial" panose="020B0604020202020204" pitchFamily="34" charset="0"/>
              <a:buChar char="•"/>
            </a:pPr>
            <a:r>
              <a:rPr lang="en-US" sz="2400" dirty="0">
                <a:latin typeface="Times New Roman" panose="02020603050405020304"/>
              </a:rPr>
              <a:t>Detection (two YOLOv8n models) </a:t>
            </a:r>
            <a:endParaRPr lang="en-US" altLang="en-US" sz="2400" kern="100" dirty="0">
              <a:solidFill>
                <a:schemeClr val="tx1"/>
              </a:solidFill>
              <a:latin typeface="Times New Roman" panose="02020603050405020304"/>
              <a:cs typeface="Times New Roman" panose="02020603050405020304"/>
            </a:endParaRPr>
          </a:p>
          <a:p>
            <a:pPr marL="171450" indent="-171450">
              <a:buFont typeface="Arial" panose="020B0604020202020204" pitchFamily="34" charset="0"/>
              <a:buChar char="•"/>
            </a:pPr>
            <a:endParaRPr lang="en-US" sz="1000" dirty="0">
              <a:latin typeface="Times New Roman" panose="02020603050405020304"/>
            </a:endParaRPr>
          </a:p>
          <a:p>
            <a:pPr marL="342900" indent="-342900">
              <a:buFont typeface="Arial" panose="020B0604020202020204" pitchFamily="34" charset="0"/>
              <a:buChar char="•"/>
            </a:pPr>
            <a:r>
              <a:rPr lang="en-US" sz="2400" dirty="0">
                <a:latin typeface="Times New Roman" panose="02020603050405020304"/>
              </a:rPr>
              <a:t>Person Detector: </a:t>
            </a:r>
            <a:r>
              <a:rPr lang="en-US" sz="2400" b="1" dirty="0" err="1">
                <a:solidFill>
                  <a:schemeClr val="tx1"/>
                </a:solidFill>
                <a:latin typeface="Times New Roman" panose="02020603050405020304"/>
                <a:sym typeface="+mn-ea"/>
              </a:rPr>
              <a:t>CrowdHuman</a:t>
            </a:r>
            <a:r>
              <a:rPr lang="en-US" sz="2400" b="1" dirty="0">
                <a:solidFill>
                  <a:schemeClr val="tx1"/>
                </a:solidFill>
                <a:latin typeface="Times New Roman" panose="02020603050405020304"/>
                <a:sym typeface="+mn-ea"/>
              </a:rPr>
              <a:t> (Person):</a:t>
            </a:r>
            <a:r>
              <a:rPr lang="en-US" sz="2400" dirty="0">
                <a:solidFill>
                  <a:schemeClr val="tx1"/>
                </a:solidFill>
                <a:latin typeface="Times New Roman" panose="02020603050405020304"/>
                <a:sym typeface="+mn-ea"/>
              </a:rPr>
              <a:t> trained 36 epochs; qualitative tests show stable person boxes in validation samples.</a:t>
            </a:r>
          </a:p>
          <a:p>
            <a:pPr marL="171450" indent="-171450">
              <a:buFont typeface="Arial" panose="020B0604020202020204" pitchFamily="34" charset="0"/>
              <a:buChar char="•"/>
            </a:pPr>
            <a:endParaRPr lang="en-US" sz="1000" dirty="0">
              <a:latin typeface="Times New Roman" panose="02020603050405020304"/>
            </a:endParaRPr>
          </a:p>
          <a:p>
            <a:pPr marL="342900" indent="-342900">
              <a:buFont typeface="Arial" panose="020B0604020202020204" pitchFamily="34" charset="0"/>
              <a:buChar char="•"/>
            </a:pPr>
            <a:r>
              <a:rPr lang="en-US" sz="2400" dirty="0">
                <a:latin typeface="Times New Roman" panose="02020603050405020304"/>
              </a:rPr>
              <a:t>Weapon Detector: </a:t>
            </a:r>
            <a:r>
              <a:rPr lang="en-US" sz="2400" b="1" dirty="0" err="1">
                <a:solidFill>
                  <a:schemeClr val="tx1"/>
                </a:solidFill>
                <a:latin typeface="Times New Roman" panose="02020603050405020304"/>
                <a:sym typeface="+mn-ea"/>
              </a:rPr>
              <a:t>OpenImages</a:t>
            </a:r>
            <a:r>
              <a:rPr lang="en-US" sz="2400" b="1" dirty="0">
                <a:solidFill>
                  <a:schemeClr val="tx1"/>
                </a:solidFill>
                <a:latin typeface="Times New Roman" panose="02020603050405020304"/>
                <a:sym typeface="+mn-ea"/>
              </a:rPr>
              <a:t> (Weapons):</a:t>
            </a:r>
            <a:r>
              <a:rPr lang="en-US" sz="2400" dirty="0">
                <a:solidFill>
                  <a:schemeClr val="tx1"/>
                </a:solidFill>
                <a:latin typeface="Times New Roman" panose="02020603050405020304"/>
                <a:sym typeface="+mn-ea"/>
              </a:rPr>
              <a:t> trained 50 epochs; predicted Gun/Knife/Rifle reliably in held-out images.</a:t>
            </a:r>
          </a:p>
          <a:p>
            <a:pPr marL="171450" indent="-171450">
              <a:buFont typeface="Arial" panose="020B0604020202020204" pitchFamily="34" charset="0"/>
              <a:buChar char="•"/>
            </a:pPr>
            <a:endParaRPr lang="en-US" sz="1000" dirty="0">
              <a:latin typeface="Times New Roman" panose="02020603050405020304"/>
            </a:endParaRPr>
          </a:p>
          <a:p>
            <a:pPr marL="342900" indent="-342900">
              <a:buFont typeface="Arial" panose="020B0604020202020204" pitchFamily="34" charset="0"/>
              <a:buChar char="•"/>
            </a:pPr>
            <a:r>
              <a:rPr lang="en-US" sz="2400" dirty="0">
                <a:latin typeface="Times New Roman" panose="02020603050405020304"/>
              </a:rPr>
              <a:t>Inference returns boxes, class, confidence for each frame. </a:t>
            </a:r>
          </a:p>
          <a:p>
            <a:pPr marL="171450" indent="-171450">
              <a:buFont typeface="Arial" panose="020B0604020202020204" pitchFamily="34" charset="0"/>
              <a:buChar char="•"/>
            </a:pPr>
            <a:endParaRPr lang="en-US" sz="1000" dirty="0">
              <a:latin typeface="Times New Roman" panose="02020603050405020304"/>
            </a:endParaRPr>
          </a:p>
          <a:p>
            <a:pPr marL="342900" indent="-342900">
              <a:buFont typeface="Arial" panose="020B0604020202020204" pitchFamily="34" charset="0"/>
              <a:buChar char="•"/>
            </a:pPr>
            <a:r>
              <a:rPr lang="en-US" sz="2400" dirty="0">
                <a:latin typeface="Times New Roman" panose="02020603050405020304"/>
              </a:rPr>
              <a:t> Behavior Classifier (CNN + LBPH Fusion) </a:t>
            </a:r>
          </a:p>
          <a:p>
            <a:pPr marL="171450" indent="-171450">
              <a:buFont typeface="Arial" panose="020B0604020202020204" pitchFamily="34" charset="0"/>
              <a:buChar char="•"/>
            </a:pPr>
            <a:endParaRPr lang="en-US" sz="1000" dirty="0">
              <a:latin typeface="Times New Roman" panose="02020603050405020304"/>
            </a:endParaRPr>
          </a:p>
          <a:p>
            <a:pPr marL="342900" indent="-342900">
              <a:buFont typeface="Arial" panose="020B0604020202020204" pitchFamily="34" charset="0"/>
              <a:buChar char="•"/>
            </a:pPr>
            <a:r>
              <a:rPr lang="en-US" sz="2400" dirty="0">
                <a:latin typeface="Times New Roman" panose="02020603050405020304"/>
              </a:rPr>
              <a:t>Backbone: torchvision.models.resnet18 (ImageNet weights, fc=Identity → 512-D). </a:t>
            </a:r>
          </a:p>
          <a:p>
            <a:pPr marL="171450" indent="-171450">
              <a:buFont typeface="Arial" panose="020B0604020202020204" pitchFamily="34" charset="0"/>
              <a:buChar char="•"/>
            </a:pPr>
            <a:endParaRPr lang="en-US" sz="1000" dirty="0">
              <a:latin typeface="Times New Roman" panose="02020603050405020304"/>
            </a:endParaRPr>
          </a:p>
          <a:p>
            <a:pPr marL="342900" indent="-342900">
              <a:buFont typeface="Arial" panose="020B0604020202020204" pitchFamily="34" charset="0"/>
              <a:buChar char="•"/>
            </a:pPr>
            <a:r>
              <a:rPr lang="en-US" sz="2400" dirty="0">
                <a:latin typeface="Times New Roman" panose="02020603050405020304"/>
              </a:rPr>
              <a:t>LBPH branch: 10-D → FC(64) + </a:t>
            </a:r>
            <a:r>
              <a:rPr lang="en-US" sz="2400" dirty="0" err="1">
                <a:latin typeface="Times New Roman" panose="02020603050405020304"/>
              </a:rPr>
              <a:t>ReLU</a:t>
            </a:r>
            <a:r>
              <a:rPr lang="en-US" sz="2400" dirty="0">
                <a:latin typeface="Times New Roman" panose="02020603050405020304"/>
              </a:rPr>
              <a:t> + Dropout. </a:t>
            </a:r>
          </a:p>
          <a:p>
            <a:pPr marL="171450" indent="-171450">
              <a:buFont typeface="Arial" panose="020B0604020202020204" pitchFamily="34" charset="0"/>
              <a:buChar char="•"/>
            </a:pPr>
            <a:endParaRPr lang="en-US" sz="1000" dirty="0">
              <a:latin typeface="Times New Roman" panose="02020603050405020304"/>
            </a:endParaRPr>
          </a:p>
          <a:p>
            <a:pPr marL="342900" indent="-342900">
              <a:buFont typeface="Arial" panose="020B0604020202020204" pitchFamily="34" charset="0"/>
              <a:buChar char="•"/>
            </a:pPr>
            <a:r>
              <a:rPr lang="en-US" sz="2400" dirty="0">
                <a:latin typeface="Times New Roman" panose="02020603050405020304"/>
              </a:rPr>
              <a:t>Fusion: </a:t>
            </a:r>
            <a:r>
              <a:rPr lang="en-US" sz="2400" dirty="0" err="1">
                <a:latin typeface="Times New Roman" panose="02020603050405020304"/>
              </a:rPr>
              <a:t>concat</a:t>
            </a:r>
            <a:r>
              <a:rPr lang="en-US" sz="2400" dirty="0">
                <a:latin typeface="Times New Roman" panose="02020603050405020304"/>
              </a:rPr>
              <a:t>(512,64)=576 → FC(128) → FC(1 logit). </a:t>
            </a:r>
          </a:p>
          <a:p>
            <a:pPr marL="171450" indent="-171450">
              <a:buFont typeface="Arial" panose="020B0604020202020204" pitchFamily="34" charset="0"/>
              <a:buChar char="•"/>
            </a:pPr>
            <a:endParaRPr lang="en-US" sz="1000" dirty="0">
              <a:latin typeface="Times New Roman" panose="02020603050405020304"/>
            </a:endParaRPr>
          </a:p>
          <a:p>
            <a:pPr marL="342900" indent="-342900">
              <a:buFont typeface="Arial" panose="020B0604020202020204" pitchFamily="34" charset="0"/>
              <a:buChar char="•"/>
            </a:pPr>
            <a:r>
              <a:rPr lang="en-US" sz="2400" dirty="0">
                <a:latin typeface="Times New Roman" panose="02020603050405020304"/>
              </a:rPr>
              <a:t>Transforms: Resize(224), </a:t>
            </a:r>
            <a:r>
              <a:rPr lang="en-US" sz="2400" dirty="0" err="1">
                <a:latin typeface="Times New Roman" panose="02020603050405020304"/>
              </a:rPr>
              <a:t>ColorJitter</a:t>
            </a:r>
            <a:r>
              <a:rPr lang="en-US" sz="2400" dirty="0">
                <a:latin typeface="Times New Roman" panose="02020603050405020304"/>
              </a:rPr>
              <a:t> (train), Normalize(ImageNet).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pic>
        <p:nvPicPr>
          <p:cNvPr id="11" name="Picture 10"/>
          <p:cNvPicPr>
            <a:picLocks noChangeAspect="1"/>
          </p:cNvPicPr>
          <p:nvPr/>
        </p:nvPicPr>
        <p:blipFill>
          <a:blip r:embed="rId4"/>
          <a:stretch>
            <a:fillRect/>
          </a:stretch>
        </p:blipFill>
        <p:spPr>
          <a:xfrm>
            <a:off x="6449695" y="1875155"/>
            <a:ext cx="5295265" cy="3872230"/>
          </a:xfrm>
          <a:prstGeom prst="rect">
            <a:avLst/>
          </a:prstGeom>
        </p:spPr>
      </p:pic>
      <p:sp>
        <p:nvSpPr>
          <p:cNvPr id="2" name="Text Box 1"/>
          <p:cNvSpPr txBox="1"/>
          <p:nvPr/>
        </p:nvSpPr>
        <p:spPr>
          <a:xfrm>
            <a:off x="906145" y="4362450"/>
            <a:ext cx="4064000" cy="306705"/>
          </a:xfrm>
          <a:prstGeom prst="rect">
            <a:avLst/>
          </a:prstGeom>
          <a:noFill/>
        </p:spPr>
        <p:txBody>
          <a:bodyPr wrap="square" rtlCol="0">
            <a:spAutoFit/>
          </a:bodyPr>
          <a:lstStyle/>
          <a:p>
            <a:endParaRPr lang="en-US"/>
          </a:p>
        </p:txBody>
      </p:sp>
      <p:pic>
        <p:nvPicPr>
          <p:cNvPr id="3" name="Picture 2"/>
          <p:cNvPicPr>
            <a:picLocks noChangeAspect="1"/>
          </p:cNvPicPr>
          <p:nvPr/>
        </p:nvPicPr>
        <p:blipFill>
          <a:blip r:embed="rId5"/>
          <a:stretch>
            <a:fillRect/>
          </a:stretch>
        </p:blipFill>
        <p:spPr>
          <a:xfrm>
            <a:off x="534035" y="1875155"/>
            <a:ext cx="5788660" cy="3872865"/>
          </a:xfrm>
          <a:prstGeom prst="rect">
            <a:avLst/>
          </a:prstGeom>
        </p:spPr>
      </p:pic>
      <p:sp>
        <p:nvSpPr>
          <p:cNvPr id="4" name="Google Shape;99;p3"/>
          <p:cNvSpPr txBox="1">
            <a:spLocks noGrp="1"/>
          </p:cNvSpPr>
          <p:nvPr/>
        </p:nvSpPr>
        <p:spPr>
          <a:xfrm>
            <a:off x="534035" y="248285"/>
            <a:ext cx="6836410" cy="504825"/>
          </a:xfrm>
          <a:prstGeom prst="rect">
            <a:avLst/>
          </a:prstGeom>
          <a:noFill/>
          <a:ln>
            <a:noFill/>
          </a:ln>
        </p:spPr>
        <p:txBody>
          <a:bodyPr spcFirstLastPara="1" wrap="square" lIns="0" tIns="12700" rIns="0" bIns="0" anchor="ctr"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12700" lvl="0" indent="0" algn="l" rtl="0">
              <a:lnSpc>
                <a:spcPct val="100000"/>
              </a:lnSpc>
              <a:spcBef>
                <a:spcPts val="0"/>
              </a:spcBef>
              <a:spcAft>
                <a:spcPts val="0"/>
              </a:spcAft>
              <a:buClr>
                <a:srgbClr val="04A2B9"/>
              </a:buClr>
              <a:buSzPts val="2400"/>
              <a:buFont typeface="Proxima Nova" panose="02000506030000020004"/>
              <a:buNone/>
            </a:pPr>
            <a:r>
              <a:rPr lang="en-IN" altLang="en-US" sz="3200" b="1" dirty="0">
                <a:solidFill>
                  <a:srgbClr val="04A2B9"/>
                </a:solidFill>
                <a:latin typeface="Times New Roman" panose="02020603050405020304" pitchFamily="18" charset="0"/>
                <a:cs typeface="Times New Roman" panose="02020603050405020304" pitchFamily="18" charset="0"/>
                <a:sym typeface="+mn-ea"/>
              </a:rPr>
              <a:t>DATA PREPROCESING</a:t>
            </a:r>
            <a:endParaRPr lang="en-US" sz="3200" dirty="0">
              <a:latin typeface="Times New Roman" panose="02020603050405020304" pitchFamily="18" charset="0"/>
              <a:ea typeface="Proxima Nova" panose="02000506030000020004"/>
              <a:cs typeface="Times New Roman" panose="02020603050405020304" pitchFamily="18" charset="0"/>
              <a:sym typeface="Proxima Nova" panose="020005060300000200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sp>
        <p:nvSpPr>
          <p:cNvPr id="5" name="Google Shape;99;p3"/>
          <p:cNvSpPr txBox="1">
            <a:spLocks noGrp="1"/>
          </p:cNvSpPr>
          <p:nvPr/>
        </p:nvSpPr>
        <p:spPr>
          <a:xfrm>
            <a:off x="646430" y="249555"/>
            <a:ext cx="7225030" cy="509905"/>
          </a:xfrm>
          <a:prstGeom prst="rect">
            <a:avLst/>
          </a:prstGeom>
          <a:noFill/>
          <a:ln>
            <a:noFill/>
          </a:ln>
        </p:spPr>
        <p:txBody>
          <a:bodyPr spcFirstLastPara="1" wrap="square" lIns="0" tIns="1270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12700">
              <a:lnSpc>
                <a:spcPct val="100000"/>
              </a:lnSpc>
            </a:pPr>
            <a:r>
              <a:rPr lang="en-US" sz="3200" b="1" dirty="0">
                <a:solidFill>
                  <a:srgbClr val="04A2B9"/>
                </a:solidFill>
                <a:latin typeface="Times New Roman" panose="02020603050405020304" pitchFamily="18" charset="0"/>
                <a:cs typeface="Times New Roman" panose="02020603050405020304" pitchFamily="18" charset="0"/>
                <a:sym typeface="Proxima Nova" panose="02000506030000020004"/>
              </a:rPr>
              <a:t>TRAINING AND IMPLEMENTATION</a:t>
            </a:r>
          </a:p>
        </p:txBody>
      </p:sp>
      <p:sp>
        <p:nvSpPr>
          <p:cNvPr id="6" name="Google Shape;100;p3"/>
          <p:cNvSpPr txBox="1"/>
          <p:nvPr/>
        </p:nvSpPr>
        <p:spPr>
          <a:xfrm>
            <a:off x="448242" y="1053203"/>
            <a:ext cx="11295516" cy="5416837"/>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342900" indent="-342900">
              <a:buFont typeface="Arial" panose="020B0604020202020204" pitchFamily="34" charset="0"/>
              <a:buChar char="•"/>
            </a:pPr>
            <a:r>
              <a:rPr lang="en-US" sz="2000" dirty="0">
                <a:solidFill>
                  <a:schemeClr val="tx1"/>
                </a:solidFill>
                <a:latin typeface="Times New Roman" panose="02020603050405020304"/>
              </a:rPr>
              <a:t>Data building: automated </a:t>
            </a:r>
            <a:r>
              <a:rPr lang="en-US" sz="2000" dirty="0" err="1">
                <a:solidFill>
                  <a:schemeClr val="tx1"/>
                </a:solidFill>
                <a:latin typeface="Times New Roman" panose="02020603050405020304"/>
              </a:rPr>
              <a:t>CrowdHuman</a:t>
            </a:r>
            <a:r>
              <a:rPr lang="en-US" sz="2000" dirty="0">
                <a:solidFill>
                  <a:schemeClr val="tx1"/>
                </a:solidFill>
                <a:latin typeface="Times New Roman" panose="02020603050405020304"/>
              </a:rPr>
              <a:t> label conversion to YOLO; </a:t>
            </a:r>
            <a:r>
              <a:rPr lang="en-US" sz="2000" dirty="0" err="1">
                <a:solidFill>
                  <a:schemeClr val="tx1"/>
                </a:solidFill>
                <a:latin typeface="Times New Roman" panose="02020603050405020304"/>
              </a:rPr>
              <a:t>FiftyOne</a:t>
            </a:r>
            <a:r>
              <a:rPr lang="en-US" sz="2000" dirty="0">
                <a:solidFill>
                  <a:schemeClr val="tx1"/>
                </a:solidFill>
                <a:latin typeface="Times New Roman" panose="02020603050405020304"/>
              </a:rPr>
              <a:t> export; YAML generation for each dataset.</a:t>
            </a:r>
          </a:p>
          <a:p>
            <a:pPr marL="342900" indent="-342900">
              <a:buFont typeface="Arial" panose="020B0604020202020204" pitchFamily="34" charset="0"/>
              <a:buChar char="•"/>
            </a:pPr>
            <a:r>
              <a:rPr lang="en-US" sz="2000" dirty="0">
                <a:solidFill>
                  <a:schemeClr val="tx1"/>
                </a:solidFill>
                <a:latin typeface="Times New Roman" panose="02020603050405020304"/>
              </a:rPr>
              <a:t>Issue: ODGT parsing quirks and path syncing → fixed with consolidated helpers.</a:t>
            </a:r>
          </a:p>
          <a:p>
            <a:pPr marL="342900" indent="-342900">
              <a:buFont typeface="Arial" panose="020B0604020202020204" pitchFamily="34" charset="0"/>
              <a:buChar char="•"/>
            </a:pPr>
            <a:endParaRPr lang="en-US" sz="2000" dirty="0">
              <a:latin typeface="Times New Roman" panose="02020603050405020304"/>
            </a:endParaRPr>
          </a:p>
          <a:p>
            <a:pPr marL="342900" indent="-342900">
              <a:buFont typeface="Arial" panose="020B0604020202020204" pitchFamily="34" charset="0"/>
              <a:buChar char="•"/>
            </a:pPr>
            <a:r>
              <a:rPr lang="en-US" sz="2000" dirty="0">
                <a:solidFill>
                  <a:schemeClr val="tx1"/>
                </a:solidFill>
                <a:latin typeface="Times New Roman" panose="02020603050405020304"/>
              </a:rPr>
              <a:t>Compute constraints: full datasets too heavy → 25% sampling retained coverage while meeting Colab limits.</a:t>
            </a:r>
          </a:p>
          <a:p>
            <a:pPr marL="342900" indent="-342900">
              <a:buFont typeface="Arial" panose="020B0604020202020204" pitchFamily="34" charset="0"/>
              <a:buChar char="•"/>
            </a:pPr>
            <a:endParaRPr lang="en-US" sz="2000" dirty="0">
              <a:latin typeface="Times New Roman" panose="02020603050405020304"/>
            </a:endParaRPr>
          </a:p>
          <a:p>
            <a:pPr marL="342900" indent="-342900">
              <a:buFont typeface="Arial" panose="020B0604020202020204" pitchFamily="34" charset="0"/>
              <a:buChar char="•"/>
            </a:pPr>
            <a:r>
              <a:rPr lang="en-US" sz="2000" dirty="0">
                <a:solidFill>
                  <a:schemeClr val="tx1"/>
                </a:solidFill>
                <a:latin typeface="Times New Roman" panose="02020603050405020304"/>
              </a:rPr>
              <a:t>Detector training: two specialized YOLOv8n runs rather than one multi-class → better precision for weapons.</a:t>
            </a:r>
          </a:p>
          <a:p>
            <a:pPr marL="342900" indent="-342900">
              <a:buFont typeface="Arial" panose="020B0604020202020204" pitchFamily="34" charset="0"/>
              <a:buChar char="•"/>
            </a:pPr>
            <a:endParaRPr lang="en-US" sz="2000" dirty="0">
              <a:latin typeface="Times New Roman" panose="02020603050405020304"/>
            </a:endParaRPr>
          </a:p>
          <a:p>
            <a:pPr marL="342900" indent="-342900">
              <a:buFont typeface="Arial" panose="020B0604020202020204" pitchFamily="34" charset="0"/>
              <a:buChar char="•"/>
            </a:pPr>
            <a:r>
              <a:rPr lang="en-US" sz="2000" dirty="0">
                <a:solidFill>
                  <a:schemeClr val="tx1"/>
                </a:solidFill>
                <a:latin typeface="Times New Roman" panose="02020603050405020304"/>
              </a:rPr>
              <a:t>Classifier training: early experiments with plain ResNet-18 were noisy on borderline poses; adding LBPH fusion stabilized validation AUC.</a:t>
            </a:r>
          </a:p>
          <a:p>
            <a:pPr marL="342900" indent="-342900">
              <a:buFont typeface="Arial" panose="020B0604020202020204" pitchFamily="34" charset="0"/>
              <a:buChar char="•"/>
            </a:pPr>
            <a:endParaRPr lang="en-US" sz="2000" dirty="0">
              <a:latin typeface="Times New Roman" panose="02020603050405020304"/>
            </a:endParaRPr>
          </a:p>
          <a:p>
            <a:pPr marL="342900" indent="-342900">
              <a:buFont typeface="Arial" panose="020B0604020202020204" pitchFamily="34" charset="0"/>
              <a:buChar char="•"/>
            </a:pPr>
            <a:r>
              <a:rPr lang="en-US" sz="2000" dirty="0">
                <a:solidFill>
                  <a:schemeClr val="tx1"/>
                </a:solidFill>
                <a:latin typeface="Times New Roman" panose="02020603050405020304"/>
              </a:rPr>
              <a:t>Class imbalance: addressed via </a:t>
            </a:r>
            <a:r>
              <a:rPr lang="en-US" sz="2000" dirty="0" err="1">
                <a:solidFill>
                  <a:schemeClr val="tx1"/>
                </a:solidFill>
                <a:latin typeface="Times New Roman" panose="02020603050405020304"/>
              </a:rPr>
              <a:t>WeightedRandomSampler</a:t>
            </a:r>
            <a:r>
              <a:rPr lang="en-US" sz="2000" dirty="0">
                <a:solidFill>
                  <a:schemeClr val="tx1"/>
                </a:solidFill>
                <a:latin typeface="Times New Roman" panose="02020603050405020304"/>
              </a:rPr>
              <a:t>.</a:t>
            </a:r>
          </a:p>
          <a:p>
            <a:pPr marL="342900" indent="-342900">
              <a:buFont typeface="Arial" panose="020B0604020202020204" pitchFamily="34" charset="0"/>
              <a:buChar char="•"/>
            </a:pPr>
            <a:endParaRPr lang="en-US" sz="2000" dirty="0">
              <a:latin typeface="Times New Roman" panose="02020603050405020304"/>
            </a:endParaRPr>
          </a:p>
          <a:p>
            <a:pPr marL="342900" indent="-342900">
              <a:buFont typeface="Arial" panose="020B0604020202020204" pitchFamily="34" charset="0"/>
              <a:buChar char="•"/>
            </a:pPr>
            <a:r>
              <a:rPr lang="en-US" sz="2000" dirty="0">
                <a:solidFill>
                  <a:schemeClr val="tx1"/>
                </a:solidFill>
                <a:latin typeface="Times New Roman" panose="02020603050405020304"/>
              </a:rPr>
              <a:t>End-to-end script: combined both detectors, drew overlays (green=person, red=weapon), saved combined output and a master CSV.</a:t>
            </a:r>
          </a:p>
        </p:txBody>
      </p:sp>
      <p:sp>
        <p:nvSpPr>
          <p:cNvPr id="2" name="Text Box 1"/>
          <p:cNvSpPr txBox="1"/>
          <p:nvPr/>
        </p:nvSpPr>
        <p:spPr>
          <a:xfrm>
            <a:off x="906145" y="4362450"/>
            <a:ext cx="4064000" cy="306705"/>
          </a:xfrm>
          <a:prstGeom prst="rect">
            <a:avLst/>
          </a:prstGeom>
          <a:noFill/>
        </p:spPr>
        <p:txBody>
          <a:bodyPr wrap="square" rtlCol="0">
            <a:spAutoFit/>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sp>
        <p:nvSpPr>
          <p:cNvPr id="5" name="Google Shape;99;p3"/>
          <p:cNvSpPr txBox="1">
            <a:spLocks noGrp="1"/>
          </p:cNvSpPr>
          <p:nvPr/>
        </p:nvSpPr>
        <p:spPr>
          <a:xfrm>
            <a:off x="534035" y="248285"/>
            <a:ext cx="6979285" cy="504825"/>
          </a:xfrm>
          <a:prstGeom prst="rect">
            <a:avLst/>
          </a:prstGeom>
          <a:noFill/>
          <a:ln>
            <a:noFill/>
          </a:ln>
        </p:spPr>
        <p:txBody>
          <a:bodyPr spcFirstLastPara="1" wrap="square" lIns="0" tIns="12700" rIns="0" bIns="0" anchor="ctr"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12700">
              <a:lnSpc>
                <a:spcPct val="100000"/>
              </a:lnSpc>
              <a:buClr>
                <a:srgbClr val="04A2B9"/>
              </a:buClr>
              <a:buSzPts val="2400"/>
              <a:buFont typeface="Proxima Nova" panose="02000506030000020004"/>
            </a:pPr>
            <a:r>
              <a:rPr lang="en-US" sz="3200" b="1" dirty="0">
                <a:solidFill>
                  <a:srgbClr val="04A2B9"/>
                </a:solidFill>
                <a:latin typeface="Times New Roman" panose="02020603050405020304" pitchFamily="18" charset="0"/>
                <a:cs typeface="Times New Roman" panose="02020603050405020304" pitchFamily="18" charset="0"/>
              </a:rPr>
              <a:t>Training and Implementation Details</a:t>
            </a:r>
          </a:p>
        </p:txBody>
      </p:sp>
      <p:sp>
        <p:nvSpPr>
          <p:cNvPr id="6" name="Google Shape;100;p3"/>
          <p:cNvSpPr txBox="1"/>
          <p:nvPr/>
        </p:nvSpPr>
        <p:spPr>
          <a:xfrm>
            <a:off x="448242" y="1053203"/>
            <a:ext cx="11295516" cy="233553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just"/>
            <a:r>
              <a:rPr lang="en-US" altLang="en-US" sz="2000" dirty="0">
                <a:solidFill>
                  <a:schemeClr val="tx1"/>
                </a:solidFill>
                <a:latin typeface="Times New Roman" panose="02020603050405020304"/>
              </a:rPr>
              <a:t>Environment: Google Colab, GPU </a:t>
            </a:r>
            <a:r>
              <a:rPr lang="en-IN" altLang="en-US" sz="2000" dirty="0">
                <a:solidFill>
                  <a:schemeClr val="tx1"/>
                </a:solidFill>
                <a:latin typeface="Times New Roman" panose="02020603050405020304"/>
              </a:rPr>
              <a:t> NVIDIA A 100,L4</a:t>
            </a:r>
            <a:endParaRPr lang="en-US" altLang="en-US" sz="2000" dirty="0">
              <a:solidFill>
                <a:schemeClr val="tx1"/>
              </a:solidFill>
              <a:latin typeface="Times New Roman" panose="02020603050405020304"/>
            </a:endParaRPr>
          </a:p>
          <a:p>
            <a:pPr algn="just"/>
            <a:endParaRPr lang="en-US" altLang="en-US" sz="2000" dirty="0">
              <a:solidFill>
                <a:schemeClr val="tx1"/>
              </a:solidFill>
              <a:latin typeface="Times New Roman" panose="02020603050405020304"/>
            </a:endParaRPr>
          </a:p>
          <a:p>
            <a:pPr algn="just"/>
            <a:r>
              <a:rPr lang="en-US" altLang="en-US" sz="2000" dirty="0">
                <a:solidFill>
                  <a:schemeClr val="tx1"/>
                </a:solidFill>
                <a:latin typeface="Times New Roman" panose="02020603050405020304"/>
              </a:rPr>
              <a:t>YOLOv8: 36 epochs, batch size 16, image size 640</a:t>
            </a:r>
          </a:p>
          <a:p>
            <a:pPr algn="just"/>
            <a:endParaRPr lang="en-US" altLang="en-US" sz="2000" dirty="0">
              <a:solidFill>
                <a:schemeClr val="tx1"/>
              </a:solidFill>
              <a:latin typeface="Times New Roman" panose="02020603050405020304"/>
            </a:endParaRPr>
          </a:p>
          <a:p>
            <a:pPr algn="just"/>
            <a:r>
              <a:rPr lang="en-US" altLang="en-US" sz="2000" dirty="0">
                <a:solidFill>
                  <a:schemeClr val="tx1"/>
                </a:solidFill>
                <a:latin typeface="Times New Roman" panose="02020603050405020304"/>
              </a:rPr>
              <a:t>CNN: Stratified dataset split, </a:t>
            </a:r>
            <a:r>
              <a:rPr lang="en-US" altLang="en-US" sz="2000" dirty="0" err="1">
                <a:solidFill>
                  <a:schemeClr val="tx1"/>
                </a:solidFill>
                <a:latin typeface="Times New Roman" panose="02020603050405020304"/>
              </a:rPr>
              <a:t>WeightedRandomSampler</a:t>
            </a:r>
          </a:p>
          <a:p>
            <a:pPr algn="just"/>
            <a:endParaRPr lang="en-US" altLang="en-US" sz="2000" dirty="0">
              <a:solidFill>
                <a:schemeClr val="tx1"/>
              </a:solidFill>
              <a:latin typeface="Times New Roman" panose="02020603050405020304"/>
            </a:endParaRPr>
          </a:p>
          <a:p>
            <a:pPr algn="just"/>
            <a:r>
              <a:rPr lang="en-US" altLang="en-US" sz="2000" dirty="0">
                <a:solidFill>
                  <a:schemeClr val="tx1"/>
                </a:solidFill>
                <a:latin typeface="Times New Roman" panose="02020603050405020304"/>
              </a:rPr>
              <a:t>Metrics: Accuracy, Precision, Recall, AUC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sp>
        <p:nvSpPr>
          <p:cNvPr id="5" name="Google Shape;99;p3"/>
          <p:cNvSpPr txBox="1">
            <a:spLocks noGrp="1"/>
          </p:cNvSpPr>
          <p:nvPr/>
        </p:nvSpPr>
        <p:spPr>
          <a:xfrm>
            <a:off x="695549" y="248227"/>
            <a:ext cx="4669112" cy="504825"/>
          </a:xfrm>
          <a:prstGeom prst="rect">
            <a:avLst/>
          </a:prstGeom>
          <a:noFill/>
          <a:ln>
            <a:noFill/>
          </a:ln>
        </p:spPr>
        <p:txBody>
          <a:bodyPr spcFirstLastPara="1" wrap="square" lIns="0" tIns="12700" rIns="0" bIns="0" anchor="ctr"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12700">
              <a:lnSpc>
                <a:spcPct val="100000"/>
              </a:lnSpc>
              <a:buClr>
                <a:srgbClr val="04A2B9"/>
              </a:buClr>
              <a:buSzPts val="2400"/>
              <a:buFont typeface="Proxima Nova" panose="02000506030000020004"/>
            </a:pPr>
            <a:r>
              <a:rPr lang="en-US" sz="3200" b="1" dirty="0">
                <a:solidFill>
                  <a:srgbClr val="04A2B9"/>
                </a:solidFill>
                <a:latin typeface="Times New Roman" panose="02020603050405020304" pitchFamily="18" charset="0"/>
                <a:cs typeface="Times New Roman" panose="02020603050405020304" pitchFamily="18" charset="0"/>
              </a:rPr>
              <a:t>RESULTS</a:t>
            </a:r>
          </a:p>
        </p:txBody>
      </p:sp>
      <p:sp>
        <p:nvSpPr>
          <p:cNvPr id="6" name="Google Shape;100;p3"/>
          <p:cNvSpPr txBox="1"/>
          <p:nvPr/>
        </p:nvSpPr>
        <p:spPr>
          <a:xfrm>
            <a:off x="448242" y="1053203"/>
            <a:ext cx="11295516" cy="172351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just"/>
            <a:r>
              <a:rPr lang="en-US" altLang="en-US" sz="2000" dirty="0">
                <a:solidFill>
                  <a:schemeClr val="tx1"/>
                </a:solidFill>
                <a:latin typeface="Times New Roman" panose="02020603050405020304"/>
              </a:rPr>
              <a:t>YOLOv8 Person Detection: Robust in crowded scenes</a:t>
            </a:r>
          </a:p>
          <a:p>
            <a:pPr algn="just"/>
            <a:endParaRPr lang="en-US" altLang="en-US" sz="2000" dirty="0">
              <a:solidFill>
                <a:schemeClr val="tx1"/>
              </a:solidFill>
              <a:latin typeface="Times New Roman" panose="02020603050405020304"/>
            </a:endParaRPr>
          </a:p>
          <a:p>
            <a:pPr algn="just"/>
            <a:r>
              <a:rPr lang="en-US" altLang="en-US" sz="2000" dirty="0">
                <a:solidFill>
                  <a:schemeClr val="tx1"/>
                </a:solidFill>
                <a:latin typeface="Times New Roman" panose="02020603050405020304"/>
              </a:rPr>
              <a:t>YOLOv8 Weapon Detection: Guns, knives, rifles detected</a:t>
            </a:r>
          </a:p>
          <a:p>
            <a:pPr algn="just"/>
            <a:endParaRPr lang="en-US" altLang="en-US" sz="2000" dirty="0">
              <a:solidFill>
                <a:schemeClr val="tx1"/>
              </a:solidFill>
              <a:latin typeface="Times New Roman" panose="02020603050405020304"/>
            </a:endParaRPr>
          </a:p>
          <a:p>
            <a:pPr algn="just"/>
            <a:r>
              <a:rPr lang="en-US" altLang="en-US" sz="2000" dirty="0">
                <a:solidFill>
                  <a:schemeClr val="tx1"/>
                </a:solidFill>
                <a:latin typeface="Times New Roman" panose="02020603050405020304"/>
              </a:rPr>
              <a:t>Sample detection outputs shown in results images</a:t>
            </a:r>
          </a:p>
        </p:txBody>
      </p:sp>
      <p:pic>
        <p:nvPicPr>
          <p:cNvPr id="2" name="Picture 1"/>
          <p:cNvPicPr>
            <a:picLocks noChangeAspect="1"/>
          </p:cNvPicPr>
          <p:nvPr/>
        </p:nvPicPr>
        <p:blipFill>
          <a:blip r:embed="rId4"/>
          <a:stretch>
            <a:fillRect/>
          </a:stretch>
        </p:blipFill>
        <p:spPr>
          <a:xfrm>
            <a:off x="646430" y="3177540"/>
            <a:ext cx="2229485" cy="2902585"/>
          </a:xfrm>
          <a:prstGeom prst="rect">
            <a:avLst/>
          </a:prstGeom>
        </p:spPr>
      </p:pic>
      <p:pic>
        <p:nvPicPr>
          <p:cNvPr id="3" name="Picture 2"/>
          <p:cNvPicPr>
            <a:picLocks noChangeAspect="1"/>
          </p:cNvPicPr>
          <p:nvPr/>
        </p:nvPicPr>
        <p:blipFill>
          <a:blip r:embed="rId5"/>
          <a:stretch>
            <a:fillRect/>
          </a:stretch>
        </p:blipFill>
        <p:spPr>
          <a:xfrm>
            <a:off x="3147060" y="3177540"/>
            <a:ext cx="1946275" cy="2903220"/>
          </a:xfrm>
          <a:prstGeom prst="rect">
            <a:avLst/>
          </a:prstGeom>
        </p:spPr>
      </p:pic>
      <p:pic>
        <p:nvPicPr>
          <p:cNvPr id="7" name="Picture 6"/>
          <p:cNvPicPr>
            <a:picLocks noChangeAspect="1"/>
          </p:cNvPicPr>
          <p:nvPr/>
        </p:nvPicPr>
        <p:blipFill>
          <a:blip r:embed="rId6"/>
          <a:stretch>
            <a:fillRect/>
          </a:stretch>
        </p:blipFill>
        <p:spPr>
          <a:xfrm>
            <a:off x="5364480" y="3177540"/>
            <a:ext cx="2122170" cy="2903220"/>
          </a:xfrm>
          <a:prstGeom prst="rect">
            <a:avLst/>
          </a:prstGeom>
        </p:spPr>
      </p:pic>
      <p:pic>
        <p:nvPicPr>
          <p:cNvPr id="8" name="Picture 7"/>
          <p:cNvPicPr>
            <a:picLocks noChangeAspect="1"/>
          </p:cNvPicPr>
          <p:nvPr/>
        </p:nvPicPr>
        <p:blipFill>
          <a:blip r:embed="rId7"/>
          <a:stretch>
            <a:fillRect/>
          </a:stretch>
        </p:blipFill>
        <p:spPr>
          <a:xfrm>
            <a:off x="7757795" y="3177540"/>
            <a:ext cx="1891030" cy="28092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44195" y="273050"/>
            <a:ext cx="5248275" cy="455295"/>
          </a:xfrm>
          <a:prstGeom prst="rect">
            <a:avLst/>
          </a:prstGeom>
          <a:noFill/>
          <a:ln>
            <a:noFill/>
          </a:ln>
        </p:spPr>
        <p:txBody>
          <a:bodyPr spcFirstLastPara="1" wrap="square" lIns="0" tIns="12700" rIns="0" bIns="0" anchor="ctr" anchorCtr="0">
            <a:spAutoFit/>
          </a:bodyPr>
          <a:lstStyle/>
          <a:p>
            <a:r>
              <a:rPr lang="en-US" sz="3200" b="1" dirty="0">
                <a:solidFill>
                  <a:srgbClr val="04A2B9"/>
                </a:solidFill>
                <a:latin typeface="Times New Roman" panose="02020603050405020304" pitchFamily="18" charset="0"/>
                <a:cs typeface="Times New Roman" panose="02020603050405020304" pitchFamily="18" charset="0"/>
              </a:rPr>
              <a:t>Intruder Alert</a:t>
            </a:r>
            <a:r>
              <a:rPr lang="en-IN" altLang="en-US" sz="3200" b="1" dirty="0">
                <a:solidFill>
                  <a:srgbClr val="04A2B9"/>
                </a:solidFill>
                <a:latin typeface="Times New Roman" panose="02020603050405020304" pitchFamily="18" charset="0"/>
                <a:cs typeface="Times New Roman" panose="02020603050405020304" pitchFamily="18" charset="0"/>
              </a:rPr>
              <a:t> CNN+LBPH </a:t>
            </a:r>
          </a:p>
        </p:txBody>
      </p:sp>
      <p:pic>
        <p:nvPicPr>
          <p:cNvPr id="3" name="Picture 2"/>
          <p:cNvPicPr>
            <a:picLocks noChangeAspect="1"/>
          </p:cNvPicPr>
          <p:nvPr/>
        </p:nvPicPr>
        <p:blipFill>
          <a:blip r:embed="rId4"/>
          <a:stretch>
            <a:fillRect/>
          </a:stretch>
        </p:blipFill>
        <p:spPr>
          <a:xfrm>
            <a:off x="677760" y="1563069"/>
            <a:ext cx="4294054" cy="3179338"/>
          </a:xfrm>
          <a:prstGeom prst="rect">
            <a:avLst/>
          </a:prstGeom>
        </p:spPr>
      </p:pic>
      <p:pic>
        <p:nvPicPr>
          <p:cNvPr id="2" name="Picture 1"/>
          <p:cNvPicPr>
            <a:picLocks noChangeAspect="1"/>
          </p:cNvPicPr>
          <p:nvPr/>
        </p:nvPicPr>
        <p:blipFill>
          <a:blip r:embed="rId5"/>
          <a:stretch>
            <a:fillRect/>
          </a:stretch>
        </p:blipFill>
        <p:spPr>
          <a:xfrm>
            <a:off x="7049145" y="1182957"/>
            <a:ext cx="3066084" cy="2477309"/>
          </a:xfrm>
          <a:prstGeom prst="rect">
            <a:avLst/>
          </a:prstGeom>
        </p:spPr>
      </p:pic>
      <p:pic>
        <p:nvPicPr>
          <p:cNvPr id="4" name="Picture 3"/>
          <p:cNvPicPr>
            <a:picLocks noChangeAspect="1"/>
          </p:cNvPicPr>
          <p:nvPr/>
        </p:nvPicPr>
        <p:blipFill>
          <a:blip r:embed="rId6"/>
          <a:stretch>
            <a:fillRect/>
          </a:stretch>
        </p:blipFill>
        <p:spPr>
          <a:xfrm>
            <a:off x="6845812" y="3944156"/>
            <a:ext cx="3266107" cy="266344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72991"/>
            <a:ext cx="8422927" cy="455295"/>
          </a:xfrm>
          <a:prstGeom prst="rect">
            <a:avLst/>
          </a:prstGeom>
          <a:noFill/>
          <a:ln>
            <a:noFill/>
          </a:ln>
        </p:spPr>
        <p:txBody>
          <a:bodyPr spcFirstLastPara="1" wrap="square" lIns="0" tIns="12700" rIns="0" bIns="0" anchor="ctr" anchorCtr="0">
            <a:spAutoFit/>
          </a:bodyPr>
          <a:lstStyle/>
          <a:p>
            <a:r>
              <a:rPr lang="en-US" sz="3200" b="1" dirty="0">
                <a:solidFill>
                  <a:srgbClr val="04A2B9"/>
                </a:solidFill>
                <a:latin typeface="Times New Roman" panose="02020603050405020304" pitchFamily="18" charset="0"/>
                <a:cs typeface="Times New Roman" panose="02020603050405020304" pitchFamily="18" charset="0"/>
              </a:rPr>
              <a:t>Intruder Alert</a:t>
            </a:r>
            <a:r>
              <a:rPr lang="en-IN" altLang="en-US" sz="3200" b="1" dirty="0">
                <a:solidFill>
                  <a:srgbClr val="04A2B9"/>
                </a:solidFill>
                <a:latin typeface="Times New Roman" panose="02020603050405020304" pitchFamily="18" charset="0"/>
                <a:cs typeface="Times New Roman" panose="02020603050405020304" pitchFamily="18" charset="0"/>
              </a:rPr>
              <a:t> </a:t>
            </a:r>
            <a:r>
              <a:rPr lang="en-IN" altLang="en-US" sz="3200" b="1" dirty="0">
                <a:solidFill>
                  <a:srgbClr val="04A2B9"/>
                </a:solidFill>
                <a:latin typeface="Times New Roman" panose="02020603050405020304" pitchFamily="18" charset="0"/>
                <a:cs typeface="Times New Roman" panose="02020603050405020304" pitchFamily="18" charset="0"/>
                <a:sym typeface="+mn-ea"/>
              </a:rPr>
              <a:t>CNN+LBPH </a:t>
            </a:r>
          </a:p>
        </p:txBody>
      </p:sp>
      <p:pic>
        <p:nvPicPr>
          <p:cNvPr id="5" name="Picture 4"/>
          <p:cNvPicPr>
            <a:picLocks noChangeAspect="1"/>
          </p:cNvPicPr>
          <p:nvPr/>
        </p:nvPicPr>
        <p:blipFill>
          <a:blip r:embed="rId4"/>
          <a:stretch>
            <a:fillRect/>
          </a:stretch>
        </p:blipFill>
        <p:spPr>
          <a:xfrm>
            <a:off x="829563" y="2212706"/>
            <a:ext cx="4436875" cy="3220420"/>
          </a:xfrm>
          <a:prstGeom prst="rect">
            <a:avLst/>
          </a:prstGeom>
        </p:spPr>
      </p:pic>
      <p:pic>
        <p:nvPicPr>
          <p:cNvPr id="6" name="Picture 5"/>
          <p:cNvPicPr>
            <a:picLocks noChangeAspect="1"/>
          </p:cNvPicPr>
          <p:nvPr/>
        </p:nvPicPr>
        <p:blipFill>
          <a:blip r:embed="rId5"/>
          <a:stretch>
            <a:fillRect/>
          </a:stretch>
        </p:blipFill>
        <p:spPr>
          <a:xfrm>
            <a:off x="6379570" y="2057480"/>
            <a:ext cx="4456894" cy="337588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273050"/>
            <a:ext cx="5229225" cy="455295"/>
          </a:xfrm>
          <a:prstGeom prst="rect">
            <a:avLst/>
          </a:prstGeom>
          <a:noFill/>
          <a:ln>
            <a:noFill/>
          </a:ln>
        </p:spPr>
        <p:txBody>
          <a:bodyPr spcFirstLastPara="1" wrap="square" lIns="0" tIns="12700" rIns="0" bIns="0" anchor="ctr" anchorCtr="0">
            <a:spAutoFit/>
          </a:bodyPr>
          <a:lstStyle/>
          <a:p>
            <a:r>
              <a:rPr lang="en-US" sz="3200" b="1" dirty="0">
                <a:solidFill>
                  <a:srgbClr val="04A2B9"/>
                </a:solidFill>
                <a:latin typeface="Times New Roman" panose="02020603050405020304" pitchFamily="18" charset="0"/>
                <a:cs typeface="Times New Roman" panose="02020603050405020304" pitchFamily="18" charset="0"/>
              </a:rPr>
              <a:t>Intruder Alert</a:t>
            </a:r>
            <a:r>
              <a:rPr lang="en-IN" altLang="en-US" sz="3200" b="1" dirty="0">
                <a:solidFill>
                  <a:srgbClr val="04A2B9"/>
                </a:solidFill>
                <a:latin typeface="Times New Roman" panose="02020603050405020304" pitchFamily="18" charset="0"/>
                <a:cs typeface="Times New Roman" panose="02020603050405020304" pitchFamily="18" charset="0"/>
              </a:rPr>
              <a:t> </a:t>
            </a:r>
            <a:r>
              <a:rPr lang="en-IN" altLang="en-US" sz="3200" b="1" dirty="0">
                <a:solidFill>
                  <a:srgbClr val="04A2B9"/>
                </a:solidFill>
                <a:latin typeface="Times New Roman" panose="02020603050405020304" pitchFamily="18" charset="0"/>
                <a:cs typeface="Times New Roman" panose="02020603050405020304" pitchFamily="18" charset="0"/>
                <a:sym typeface="+mn-ea"/>
              </a:rPr>
              <a:t>CNN+LBPH </a:t>
            </a:r>
          </a:p>
        </p:txBody>
      </p:sp>
      <p:pic>
        <p:nvPicPr>
          <p:cNvPr id="3" name="Picture 2"/>
          <p:cNvPicPr>
            <a:picLocks noChangeAspect="1"/>
          </p:cNvPicPr>
          <p:nvPr/>
        </p:nvPicPr>
        <p:blipFill>
          <a:blip r:embed="rId4"/>
          <a:stretch>
            <a:fillRect/>
          </a:stretch>
        </p:blipFill>
        <p:spPr>
          <a:xfrm>
            <a:off x="714375" y="2727944"/>
            <a:ext cx="4667250" cy="2047875"/>
          </a:xfrm>
          <a:prstGeom prst="rect">
            <a:avLst/>
          </a:prstGeom>
        </p:spPr>
      </p:pic>
      <p:pic>
        <p:nvPicPr>
          <p:cNvPr id="7" name="Picture 6"/>
          <p:cNvPicPr>
            <a:picLocks noChangeAspect="1"/>
          </p:cNvPicPr>
          <p:nvPr/>
        </p:nvPicPr>
        <p:blipFill>
          <a:blip r:embed="rId5"/>
          <a:stretch>
            <a:fillRect/>
          </a:stretch>
        </p:blipFill>
        <p:spPr>
          <a:xfrm>
            <a:off x="5846413" y="2758537"/>
            <a:ext cx="4838700" cy="20383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273050"/>
            <a:ext cx="3799840" cy="455295"/>
          </a:xfrm>
          <a:prstGeom prst="rect">
            <a:avLst/>
          </a:prstGeom>
          <a:noFill/>
          <a:ln>
            <a:noFill/>
          </a:ln>
        </p:spPr>
        <p:txBody>
          <a:bodyPr spcFirstLastPara="1" wrap="square" lIns="0" tIns="12700" rIns="0" bIns="0" anchor="ctr" anchorCtr="0">
            <a:spAutoFit/>
          </a:bodyPr>
          <a:lstStyle/>
          <a:p>
            <a:r>
              <a:rPr lang="en-US" sz="3200" b="1" dirty="0">
                <a:solidFill>
                  <a:srgbClr val="04A2B9"/>
                </a:solidFill>
                <a:latin typeface="Times New Roman" panose="02020603050405020304" pitchFamily="18" charset="0"/>
                <a:cs typeface="Times New Roman" panose="02020603050405020304" pitchFamily="18" charset="0"/>
              </a:rPr>
              <a:t>Intruder Alert</a:t>
            </a:r>
          </a:p>
        </p:txBody>
      </p:sp>
      <p:pic>
        <p:nvPicPr>
          <p:cNvPr id="2" name="Picture 1"/>
          <p:cNvPicPr>
            <a:picLocks noChangeAspect="1"/>
          </p:cNvPicPr>
          <p:nvPr/>
        </p:nvPicPr>
        <p:blipFill>
          <a:blip r:embed="rId4"/>
          <a:srcRect l="1717" r="3990"/>
          <a:stretch>
            <a:fillRect/>
          </a:stretch>
        </p:blipFill>
        <p:spPr>
          <a:xfrm>
            <a:off x="379730" y="2013585"/>
            <a:ext cx="5822315" cy="2990215"/>
          </a:xfrm>
          <a:prstGeom prst="rect">
            <a:avLst/>
          </a:prstGeom>
        </p:spPr>
      </p:pic>
      <p:sp>
        <p:nvSpPr>
          <p:cNvPr id="3" name="Text Box 2"/>
          <p:cNvSpPr txBox="1"/>
          <p:nvPr/>
        </p:nvSpPr>
        <p:spPr>
          <a:xfrm>
            <a:off x="973455" y="5142865"/>
            <a:ext cx="2921000" cy="521970"/>
          </a:xfrm>
          <a:prstGeom prst="rect">
            <a:avLst/>
          </a:prstGeom>
          <a:noFill/>
        </p:spPr>
        <p:txBody>
          <a:bodyPr wrap="square" rtlCol="0">
            <a:spAutoFit/>
          </a:bodyPr>
          <a:lstStyle/>
          <a:p>
            <a:pPr algn="ctr"/>
            <a:r>
              <a:rPr lang="en-IN" altLang="en-US" sz="2800" b="1" u="sng">
                <a:latin typeface="Times New Roman" panose="02020603050405020304" pitchFamily="18" charset="0"/>
                <a:cs typeface="Times New Roman" panose="02020603050405020304" pitchFamily="18" charset="0"/>
              </a:rPr>
              <a:t>CNN</a:t>
            </a:r>
          </a:p>
        </p:txBody>
      </p:sp>
      <p:sp>
        <p:nvSpPr>
          <p:cNvPr id="5" name="Text Box 4"/>
          <p:cNvSpPr txBox="1"/>
          <p:nvPr/>
        </p:nvSpPr>
        <p:spPr>
          <a:xfrm>
            <a:off x="7473315" y="5047615"/>
            <a:ext cx="2921000" cy="521970"/>
          </a:xfrm>
          <a:prstGeom prst="rect">
            <a:avLst/>
          </a:prstGeom>
          <a:noFill/>
        </p:spPr>
        <p:txBody>
          <a:bodyPr wrap="square" rtlCol="0">
            <a:spAutoFit/>
          </a:bodyPr>
          <a:lstStyle/>
          <a:p>
            <a:pPr algn="ctr"/>
            <a:r>
              <a:rPr lang="en-IN" altLang="en-US" sz="2800" b="1" u="sng">
                <a:latin typeface="Times New Roman" panose="02020603050405020304" pitchFamily="18" charset="0"/>
                <a:cs typeface="Times New Roman" panose="02020603050405020304" pitchFamily="18" charset="0"/>
              </a:rPr>
              <a:t>CNN+LBPH</a:t>
            </a:r>
          </a:p>
        </p:txBody>
      </p:sp>
      <p:pic>
        <p:nvPicPr>
          <p:cNvPr id="6" name="Picture 5"/>
          <p:cNvPicPr>
            <a:picLocks noChangeAspect="1"/>
          </p:cNvPicPr>
          <p:nvPr/>
        </p:nvPicPr>
        <p:blipFill>
          <a:blip r:embed="rId5"/>
          <a:srcRect r="3949"/>
          <a:stretch>
            <a:fillRect/>
          </a:stretch>
        </p:blipFill>
        <p:spPr>
          <a:xfrm>
            <a:off x="6448425" y="2118360"/>
            <a:ext cx="5467350" cy="23685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sp>
        <p:nvSpPr>
          <p:cNvPr id="5" name="Google Shape;99;p3"/>
          <p:cNvSpPr txBox="1">
            <a:spLocks noGrp="1"/>
          </p:cNvSpPr>
          <p:nvPr/>
        </p:nvSpPr>
        <p:spPr>
          <a:xfrm>
            <a:off x="534035" y="248285"/>
            <a:ext cx="6922770" cy="504825"/>
          </a:xfrm>
          <a:prstGeom prst="rect">
            <a:avLst/>
          </a:prstGeom>
          <a:noFill/>
          <a:ln>
            <a:noFill/>
          </a:ln>
        </p:spPr>
        <p:txBody>
          <a:bodyPr spcFirstLastPara="1" wrap="square" lIns="0" tIns="12700" rIns="0" bIns="0" anchor="ctr"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12700">
              <a:lnSpc>
                <a:spcPct val="100000"/>
              </a:lnSpc>
              <a:buClr>
                <a:srgbClr val="04A2B9"/>
              </a:buClr>
              <a:buSzPts val="2400"/>
              <a:buFont typeface="Proxima Nova" panose="02000506030000020004"/>
            </a:pPr>
            <a:r>
              <a:rPr lang="en-US" sz="3200" b="1" dirty="0">
                <a:solidFill>
                  <a:srgbClr val="04A2B9"/>
                </a:solidFill>
                <a:latin typeface="Times New Roman" panose="02020603050405020304" pitchFamily="18" charset="0"/>
                <a:cs typeface="Times New Roman" panose="02020603050405020304" pitchFamily="18" charset="0"/>
              </a:rPr>
              <a:t>RESULTS: CLASSIFICATION</a:t>
            </a:r>
          </a:p>
        </p:txBody>
      </p:sp>
      <p:sp>
        <p:nvSpPr>
          <p:cNvPr id="6" name="Google Shape;100;p3"/>
          <p:cNvSpPr txBox="1"/>
          <p:nvPr/>
        </p:nvSpPr>
        <p:spPr>
          <a:xfrm>
            <a:off x="448242" y="1053203"/>
            <a:ext cx="11295516" cy="35052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just"/>
            <a:r>
              <a:rPr lang="en-US" altLang="en-US" sz="2400" dirty="0">
                <a:solidFill>
                  <a:schemeClr val="tx1"/>
                </a:solidFill>
                <a:latin typeface="Times New Roman" panose="02020603050405020304"/>
              </a:rPr>
              <a:t>CNN Only:</a:t>
            </a:r>
          </a:p>
          <a:p>
            <a:pPr algn="just"/>
            <a:r>
              <a:rPr lang="en-US" altLang="en-US" sz="2400" dirty="0">
                <a:solidFill>
                  <a:schemeClr val="tx1"/>
                </a:solidFill>
                <a:latin typeface="Times New Roman" panose="02020603050405020304"/>
              </a:rPr>
              <a:t>• Accuracy 68%</a:t>
            </a:r>
          </a:p>
          <a:p>
            <a:pPr algn="just"/>
            <a:r>
              <a:rPr lang="en-US" altLang="en-US" sz="2400" dirty="0">
                <a:solidFill>
                  <a:schemeClr val="tx1"/>
                </a:solidFill>
                <a:latin typeface="Times New Roman" panose="02020603050405020304"/>
              </a:rPr>
              <a:t>• AUC 0.7506</a:t>
            </a:r>
          </a:p>
          <a:p>
            <a:pPr algn="just"/>
            <a:r>
              <a:rPr lang="en-US" altLang="en-US" sz="2400" dirty="0">
                <a:solidFill>
                  <a:schemeClr val="tx1"/>
                </a:solidFill>
                <a:latin typeface="Times New Roman" panose="02020603050405020304"/>
              </a:rPr>
              <a:t>• Confusion Matrix shows high false positives/negatives</a:t>
            </a:r>
          </a:p>
          <a:p>
            <a:pPr algn="just"/>
            <a:endParaRPr lang="en-US" altLang="en-US" sz="2400" dirty="0">
              <a:solidFill>
                <a:schemeClr val="tx1"/>
              </a:solidFill>
              <a:latin typeface="Times New Roman" panose="02020603050405020304"/>
            </a:endParaRPr>
          </a:p>
          <a:p>
            <a:pPr algn="just"/>
            <a:r>
              <a:rPr lang="en-US" altLang="en-US" sz="2400" dirty="0">
                <a:solidFill>
                  <a:schemeClr val="tx1"/>
                </a:solidFill>
                <a:latin typeface="Times New Roman" panose="02020603050405020304"/>
              </a:rPr>
              <a:t>Hybrid CNN+LBPH:</a:t>
            </a:r>
          </a:p>
          <a:p>
            <a:pPr algn="just"/>
            <a:r>
              <a:rPr lang="en-US" altLang="en-US" sz="2400" dirty="0">
                <a:solidFill>
                  <a:schemeClr val="tx1"/>
                </a:solidFill>
                <a:latin typeface="Times New Roman" panose="02020603050405020304"/>
              </a:rPr>
              <a:t>• Accuracy 70%</a:t>
            </a:r>
          </a:p>
          <a:p>
            <a:pPr algn="just"/>
            <a:r>
              <a:rPr lang="en-US" altLang="en-US" sz="2400" dirty="0">
                <a:solidFill>
                  <a:schemeClr val="tx1"/>
                </a:solidFill>
                <a:latin typeface="Times New Roman" panose="02020603050405020304"/>
              </a:rPr>
              <a:t>• AUC 0.7631</a:t>
            </a:r>
          </a:p>
          <a:p>
            <a:pPr algn="just"/>
            <a:r>
              <a:rPr lang="en-US" altLang="en-US" sz="2400" dirty="0">
                <a:solidFill>
                  <a:schemeClr val="tx1"/>
                </a:solidFill>
                <a:latin typeface="Times New Roman" panose="02020603050405020304"/>
              </a:rPr>
              <a:t>• Reduced false positives and false negatives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72991"/>
            <a:ext cx="8422927" cy="455295"/>
          </a:xfrm>
          <a:prstGeom prst="rect">
            <a:avLst/>
          </a:prstGeom>
          <a:noFill/>
          <a:ln>
            <a:noFill/>
          </a:ln>
        </p:spPr>
        <p:txBody>
          <a:bodyPr spcFirstLastPara="1" wrap="square" lIns="0" tIns="12700" rIns="0" bIns="0" anchor="ctr" anchorCtr="0">
            <a:spAutoFit/>
          </a:bodyPr>
          <a:lstStyle/>
          <a:p>
            <a:r>
              <a:rPr lang="en-US" sz="3200" b="1" dirty="0">
                <a:solidFill>
                  <a:srgbClr val="04A2B9"/>
                </a:solidFill>
                <a:latin typeface="Times New Roman" panose="02020603050405020304" pitchFamily="18" charset="0"/>
                <a:cs typeface="Times New Roman" panose="02020603050405020304" pitchFamily="18" charset="0"/>
              </a:rPr>
              <a:t>Planning and Scheduling</a:t>
            </a:r>
          </a:p>
        </p:txBody>
      </p:sp>
      <p:pic>
        <p:nvPicPr>
          <p:cNvPr id="2" name="Picture 1"/>
          <p:cNvPicPr>
            <a:picLocks noChangeAspect="1"/>
          </p:cNvPicPr>
          <p:nvPr/>
        </p:nvPicPr>
        <p:blipFill>
          <a:blip r:embed="rId4"/>
          <a:stretch>
            <a:fillRect/>
          </a:stretch>
        </p:blipFill>
        <p:spPr>
          <a:xfrm>
            <a:off x="334818" y="1534327"/>
            <a:ext cx="11522364" cy="378934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646430" y="273050"/>
            <a:ext cx="7761605" cy="455295"/>
          </a:xfrm>
          <a:prstGeom prst="rect">
            <a:avLst/>
          </a:prstGeom>
          <a:noFill/>
          <a:ln>
            <a:noFill/>
          </a:ln>
        </p:spPr>
        <p:txBody>
          <a:bodyPr spcFirstLastPara="1" wrap="square" lIns="0" tIns="12700" rIns="0" bIns="0" anchor="ctr" anchorCtr="0">
            <a:spAutoFit/>
          </a:bodyPr>
          <a:lstStyle/>
          <a:p>
            <a:r>
              <a:rPr lang="en-US" sz="3200" b="1" dirty="0">
                <a:solidFill>
                  <a:srgbClr val="04A2B9"/>
                </a:solidFill>
                <a:latin typeface="Times New Roman" panose="02020603050405020304" pitchFamily="18" charset="0"/>
                <a:cs typeface="Times New Roman" panose="02020603050405020304" pitchFamily="18" charset="0"/>
              </a:rPr>
              <a:t>Review 1 Summary &amp; Evaluator’s Remarks</a:t>
            </a:r>
          </a:p>
        </p:txBody>
      </p:sp>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sp>
        <p:nvSpPr>
          <p:cNvPr id="3" name="Google Shape;100;p3"/>
          <p:cNvSpPr txBox="1"/>
          <p:nvPr/>
        </p:nvSpPr>
        <p:spPr>
          <a:xfrm>
            <a:off x="815340" y="1166495"/>
            <a:ext cx="2429510" cy="2766695"/>
          </a:xfrm>
          <a:prstGeom prst="rect">
            <a:avLst/>
          </a:prstGeom>
          <a:noFill/>
          <a:ln>
            <a:noFill/>
          </a:ln>
        </p:spPr>
        <p:txBody>
          <a:bodyPr spcFirstLastPara="1" wrap="square" lIns="91425" tIns="91425" rIns="91425" bIns="91425" anchor="t" anchorCtr="0">
            <a:spAutoFit/>
          </a:bodyPr>
          <a:lstStyle/>
          <a:p>
            <a:pPr marL="0" indent="0" algn="ctr">
              <a:buNone/>
            </a:pPr>
            <a:r>
              <a:rPr lang="en-US" sz="2400" dirty="0">
                <a:latin typeface="Times New Roman" panose="02020603050405020304"/>
              </a:rPr>
              <a:t>Clear problem framing: detect </a:t>
            </a:r>
            <a:r>
              <a:rPr lang="en-US" sz="2400" b="1" dirty="0">
                <a:latin typeface="Times New Roman" panose="02020603050405020304"/>
              </a:rPr>
              <a:t>persons</a:t>
            </a:r>
            <a:r>
              <a:rPr lang="en-US" sz="2400" dirty="0">
                <a:latin typeface="Times New Roman" panose="02020603050405020304"/>
              </a:rPr>
              <a:t> and </a:t>
            </a:r>
            <a:r>
              <a:rPr lang="en-US" sz="2400" b="1" dirty="0">
                <a:latin typeface="Times New Roman" panose="02020603050405020304"/>
              </a:rPr>
              <a:t>weapons</a:t>
            </a:r>
            <a:r>
              <a:rPr lang="en-US" sz="2400" dirty="0">
                <a:latin typeface="Times New Roman" panose="02020603050405020304"/>
              </a:rPr>
              <a:t>; analyze </a:t>
            </a:r>
            <a:r>
              <a:rPr lang="en-US" sz="2400" b="1" dirty="0">
                <a:latin typeface="Times New Roman" panose="02020603050405020304"/>
              </a:rPr>
              <a:t>suspicious behavior</a:t>
            </a:r>
            <a:r>
              <a:rPr lang="en-US" sz="2400" dirty="0">
                <a:latin typeface="Times New Roman" panose="02020603050405020304"/>
              </a:rPr>
              <a:t> → raise alert.</a:t>
            </a:r>
            <a:endParaRPr lang="en-US" altLang="en-US" sz="2400" dirty="0">
              <a:latin typeface="Times New Roman" panose="02020603050405020304"/>
            </a:endParaRPr>
          </a:p>
        </p:txBody>
      </p:sp>
      <p:sp>
        <p:nvSpPr>
          <p:cNvPr id="2" name="Google Shape;100;p3"/>
          <p:cNvSpPr txBox="1"/>
          <p:nvPr/>
        </p:nvSpPr>
        <p:spPr>
          <a:xfrm>
            <a:off x="4557395" y="1166495"/>
            <a:ext cx="2765425" cy="2028190"/>
          </a:xfrm>
          <a:prstGeom prst="rect">
            <a:avLst/>
          </a:prstGeom>
          <a:noFill/>
          <a:ln>
            <a:noFill/>
          </a:ln>
        </p:spPr>
        <p:txBody>
          <a:bodyPr spcFirstLastPara="1" wrap="square" lIns="91425" tIns="91425" rIns="91425" bIns="91425" anchor="t" anchorCtr="0">
            <a:spAutoFit/>
          </a:bodyPr>
          <a:lstStyle/>
          <a:p>
            <a:pPr marL="0" indent="0" algn="ctr">
              <a:buNone/>
            </a:pPr>
            <a:r>
              <a:rPr lang="en-US" sz="2400" dirty="0">
                <a:latin typeface="Times New Roman" panose="02020603050405020304"/>
              </a:rPr>
              <a:t>Strength: sensible 2-stage design; good dataset choices (</a:t>
            </a:r>
            <a:r>
              <a:rPr lang="en-US" sz="2400" err="1">
                <a:latin typeface="Times New Roman" panose="02020603050405020304"/>
              </a:rPr>
              <a:t>CrowdHuman</a:t>
            </a:r>
            <a:r>
              <a:rPr lang="en-US" sz="2400" dirty="0">
                <a:latin typeface="Times New Roman" panose="02020603050405020304"/>
              </a:rPr>
              <a:t> + </a:t>
            </a:r>
            <a:r>
              <a:rPr lang="en-US" sz="2400" err="1">
                <a:latin typeface="Times New Roman" panose="02020603050405020304"/>
              </a:rPr>
              <a:t>OpenImages</a:t>
            </a:r>
            <a:r>
              <a:rPr lang="en-US" sz="2400" dirty="0">
                <a:latin typeface="Times New Roman" panose="02020603050405020304"/>
              </a:rPr>
              <a:t>). </a:t>
            </a:r>
            <a:endParaRPr lang="en-US" altLang="en-US" sz="2400" dirty="0">
              <a:latin typeface="Times New Roman" panose="02020603050405020304"/>
            </a:endParaRPr>
          </a:p>
        </p:txBody>
      </p:sp>
      <p:sp>
        <p:nvSpPr>
          <p:cNvPr id="4" name="Google Shape;100;p3"/>
          <p:cNvSpPr txBox="1"/>
          <p:nvPr/>
        </p:nvSpPr>
        <p:spPr>
          <a:xfrm>
            <a:off x="8538210" y="1166495"/>
            <a:ext cx="2649855" cy="3136265"/>
          </a:xfrm>
          <a:prstGeom prst="rect">
            <a:avLst/>
          </a:prstGeom>
          <a:noFill/>
          <a:ln>
            <a:noFill/>
          </a:ln>
        </p:spPr>
        <p:txBody>
          <a:bodyPr spcFirstLastPara="1" wrap="square" lIns="91425" tIns="91425" rIns="91425" bIns="91425" anchor="t" anchorCtr="0">
            <a:spAutoFit/>
          </a:bodyPr>
          <a:lstStyle/>
          <a:p>
            <a:pPr marL="0" indent="0" algn="ctr">
              <a:buNone/>
            </a:pPr>
            <a:r>
              <a:rPr lang="en-US" sz="2400" dirty="0">
                <a:latin typeface="Times New Roman" panose="02020603050405020304"/>
              </a:rPr>
              <a:t>Recommendations (addressed): unify datasets, reduce training footprint, balance classes, and add explainability for classifier outputs.</a:t>
            </a:r>
            <a:endParaRPr lang="en-US" altLang="en-US" sz="2400" dirty="0">
              <a:latin typeface="Times New Roman" panose="0202060305040502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421640" y="273050"/>
            <a:ext cx="8442960" cy="455295"/>
          </a:xfrm>
          <a:prstGeom prst="rect">
            <a:avLst/>
          </a:prstGeom>
          <a:noFill/>
          <a:ln>
            <a:noFill/>
          </a:ln>
        </p:spPr>
        <p:txBody>
          <a:bodyPr spcFirstLastPara="1" wrap="square" lIns="0" tIns="12700" rIns="0" bIns="0" anchor="ctr" anchorCtr="0">
            <a:spAutoFit/>
          </a:bodyPr>
          <a:lstStyle/>
          <a:p>
            <a:r>
              <a:rPr lang="en-US" sz="3200" b="1" dirty="0">
                <a:solidFill>
                  <a:srgbClr val="04A2B9"/>
                </a:solidFill>
                <a:latin typeface="Times New Roman" panose="02020603050405020304" pitchFamily="18" charset="0"/>
                <a:cs typeface="Times New Roman" panose="02020603050405020304" pitchFamily="18" charset="0"/>
              </a:rPr>
              <a:t>Changes/Updates Based On Review 1 Feedback</a:t>
            </a:r>
          </a:p>
        </p:txBody>
      </p:sp>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latin typeface="Times New Roman" panose="02020603050405020304" pitchFamily="18" charset="0"/>
              <a:cs typeface="Times New Roman" panose="02020603050405020304" pitchFamily="18" charset="0"/>
            </a:endParaRPr>
          </a:p>
        </p:txBody>
      </p:sp>
      <p:sp>
        <p:nvSpPr>
          <p:cNvPr id="3" name="Google Shape;100;p3"/>
          <p:cNvSpPr txBox="1"/>
          <p:nvPr/>
        </p:nvSpPr>
        <p:spPr>
          <a:xfrm>
            <a:off x="363290" y="1132106"/>
            <a:ext cx="11246554" cy="5382895"/>
          </a:xfrm>
          <a:prstGeom prst="rect">
            <a:avLst/>
          </a:prstGeom>
          <a:noFill/>
          <a:ln>
            <a:noFill/>
          </a:ln>
        </p:spPr>
        <p:txBody>
          <a:bodyPr spcFirstLastPara="1" wrap="square" lIns="91425" tIns="91425" rIns="91425" bIns="91425" anchor="t" anchorCtr="0">
            <a:spAutoFit/>
          </a:bodyPr>
          <a:lstStyle/>
          <a:p>
            <a:pPr marL="342900" indent="-342900" algn="l">
              <a:lnSpc>
                <a:spcPct val="1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Unified Dataset Build:</a:t>
            </a:r>
            <a:r>
              <a:rPr lang="en-US" sz="2400" dirty="0">
                <a:latin typeface="Times New Roman" panose="02020603050405020304" pitchFamily="18" charset="0"/>
                <a:cs typeface="Times New Roman" panose="02020603050405020304" pitchFamily="18" charset="0"/>
              </a:rPr>
              <a:t> scripted conversion (</a:t>
            </a:r>
            <a:r>
              <a:rPr lang="en-US" sz="2400" dirty="0" err="1">
                <a:latin typeface="Times New Roman" panose="02020603050405020304" pitchFamily="18" charset="0"/>
                <a:cs typeface="Times New Roman" panose="02020603050405020304" pitchFamily="18" charset="0"/>
              </a:rPr>
              <a:t>CrowdHuman</a:t>
            </a:r>
            <a:r>
              <a:rPr lang="en-US" sz="2400" dirty="0">
                <a:latin typeface="Times New Roman" panose="02020603050405020304" pitchFamily="18" charset="0"/>
                <a:cs typeface="Times New Roman" panose="02020603050405020304" pitchFamily="18" charset="0"/>
              </a:rPr>
              <a:t> ODGT → YOLO), </a:t>
            </a:r>
            <a:r>
              <a:rPr lang="en-US" sz="2400" dirty="0" err="1">
                <a:latin typeface="Times New Roman" panose="02020603050405020304" pitchFamily="18" charset="0"/>
                <a:cs typeface="Times New Roman" panose="02020603050405020304" pitchFamily="18" charset="0"/>
              </a:rPr>
              <a:t>FiftyOne</a:t>
            </a:r>
            <a:r>
              <a:rPr lang="en-US" sz="2400" dirty="0">
                <a:latin typeface="Times New Roman" panose="02020603050405020304" pitchFamily="18" charset="0"/>
                <a:cs typeface="Times New Roman" panose="02020603050405020304" pitchFamily="18" charset="0"/>
              </a:rPr>
              <a:t> export for </a:t>
            </a:r>
            <a:r>
              <a:rPr lang="en-US" sz="2400" dirty="0" err="1">
                <a:latin typeface="Times New Roman" panose="02020603050405020304" pitchFamily="18" charset="0"/>
                <a:cs typeface="Times New Roman" panose="02020603050405020304" pitchFamily="18" charset="0"/>
              </a:rPr>
              <a:t>OpenImages</a:t>
            </a:r>
            <a:r>
              <a:rPr lang="en-US" sz="2400" dirty="0">
                <a:latin typeface="Times New Roman" panose="02020603050405020304" pitchFamily="18" charset="0"/>
                <a:cs typeface="Times New Roman" panose="02020603050405020304" pitchFamily="18" charset="0"/>
              </a:rPr>
              <a:t>; consistent YAMLs for YOLO.</a:t>
            </a:r>
          </a:p>
          <a:p>
            <a:pPr marL="171450" indent="-171450" algn="l">
              <a:lnSpc>
                <a:spcPct val="100000"/>
              </a:lnSpc>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a:p>
            <a:pPr marL="342900" indent="-342900" algn="l">
              <a:lnSpc>
                <a:spcPct val="1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Resource-aware Sampling:</a:t>
            </a:r>
            <a:r>
              <a:rPr lang="en-US" sz="2400" dirty="0">
                <a:latin typeface="Times New Roman" panose="02020603050405020304" pitchFamily="18" charset="0"/>
                <a:cs typeface="Times New Roman" panose="02020603050405020304" pitchFamily="18" charset="0"/>
              </a:rPr>
              <a:t> trained on ~25% of frames to fit </a:t>
            </a:r>
            <a:r>
              <a:rPr lang="en-US" sz="2400" dirty="0" err="1">
                <a:latin typeface="Times New Roman" panose="02020603050405020304" pitchFamily="18" charset="0"/>
                <a:cs typeface="Times New Roman" panose="02020603050405020304" pitchFamily="18" charset="0"/>
              </a:rPr>
              <a:t>Colab</a:t>
            </a:r>
            <a:r>
              <a:rPr lang="en-US" sz="2400" dirty="0">
                <a:latin typeface="Times New Roman" panose="02020603050405020304" pitchFamily="18" charset="0"/>
                <a:cs typeface="Times New Roman" panose="02020603050405020304" pitchFamily="18" charset="0"/>
              </a:rPr>
              <a:t>/GPU limits while retaining class balance.</a:t>
            </a:r>
          </a:p>
          <a:p>
            <a:pPr marL="171450" indent="-171450" algn="l">
              <a:lnSpc>
                <a:spcPct val="100000"/>
              </a:lnSpc>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a:p>
            <a:pPr marL="342900" indent="-342900" algn="l">
              <a:lnSpc>
                <a:spcPct val="1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Two Dedicated Detectors:</a:t>
            </a:r>
            <a:r>
              <a:rPr lang="en-US" sz="2400" dirty="0">
                <a:latin typeface="Times New Roman" panose="02020603050405020304" pitchFamily="18" charset="0"/>
                <a:cs typeface="Times New Roman" panose="02020603050405020304" pitchFamily="18" charset="0"/>
              </a:rPr>
              <a:t> trained </a:t>
            </a:r>
            <a:r>
              <a:rPr lang="en-US" sz="2400" b="1" dirty="0">
                <a:latin typeface="Times New Roman" panose="02020603050405020304" pitchFamily="18" charset="0"/>
                <a:cs typeface="Times New Roman" panose="02020603050405020304" pitchFamily="18" charset="0"/>
              </a:rPr>
              <a:t>separate YOLOv8n</a:t>
            </a:r>
            <a:r>
              <a:rPr lang="en-US" sz="2400" dirty="0">
                <a:latin typeface="Times New Roman" panose="02020603050405020304" pitchFamily="18" charset="0"/>
                <a:cs typeface="Times New Roman" panose="02020603050405020304" pitchFamily="18" charset="0"/>
              </a:rPr>
              <a:t> models for persons and for weapons (better precision than a single multi-class run).</a:t>
            </a:r>
          </a:p>
          <a:p>
            <a:pPr marL="171450" indent="-171450" algn="l">
              <a:lnSpc>
                <a:spcPct val="100000"/>
              </a:lnSpc>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a:p>
            <a:pPr marL="342900" indent="-342900" algn="l">
              <a:lnSpc>
                <a:spcPct val="1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Hybrid Behavior Model:</a:t>
            </a:r>
            <a:r>
              <a:rPr lang="en-US" sz="2400" dirty="0">
                <a:latin typeface="Times New Roman" panose="02020603050405020304" pitchFamily="18" charset="0"/>
                <a:cs typeface="Times New Roman" panose="02020603050405020304" pitchFamily="18" charset="0"/>
              </a:rPr>
              <a:t> added </a:t>
            </a:r>
            <a:r>
              <a:rPr lang="en-US" sz="2400" b="1" dirty="0">
                <a:latin typeface="Times New Roman" panose="02020603050405020304" pitchFamily="18" charset="0"/>
                <a:cs typeface="Times New Roman" panose="02020603050405020304" pitchFamily="18" charset="0"/>
              </a:rPr>
              <a:t>LBPH</a:t>
            </a:r>
            <a:r>
              <a:rPr lang="en-US" sz="2400" dirty="0">
                <a:latin typeface="Times New Roman" panose="02020603050405020304" pitchFamily="18" charset="0"/>
                <a:cs typeface="Times New Roman" panose="02020603050405020304" pitchFamily="18" charset="0"/>
              </a:rPr>
              <a:t> texture features fused with </a:t>
            </a:r>
            <a:r>
              <a:rPr lang="en-US" sz="2400" b="1" dirty="0">
                <a:latin typeface="Times New Roman" panose="02020603050405020304" pitchFamily="18" charset="0"/>
                <a:cs typeface="Times New Roman" panose="02020603050405020304" pitchFamily="18" charset="0"/>
              </a:rPr>
              <a:t>ResNet-18</a:t>
            </a:r>
            <a:r>
              <a:rPr lang="en-US" sz="2400" dirty="0">
                <a:latin typeface="Times New Roman" panose="02020603050405020304" pitchFamily="18" charset="0"/>
                <a:cs typeface="Times New Roman" panose="02020603050405020304" pitchFamily="18" charset="0"/>
              </a:rPr>
              <a:t> features (512+64 → FC), improving robustness on subtle postures.</a:t>
            </a:r>
            <a:br>
              <a:rPr lang="en-US" sz="2400" dirty="0">
                <a:latin typeface="Times New Roman" panose="02020603050405020304" pitchFamily="18" charset="0"/>
                <a:cs typeface="Times New Roman" panose="02020603050405020304" pitchFamily="18" charset="0"/>
              </a:rPr>
            </a:br>
            <a:endParaRPr lang="en-US" sz="1000" dirty="0">
              <a:latin typeface="Times New Roman" panose="02020603050405020304" pitchFamily="18" charset="0"/>
              <a:cs typeface="Times New Roman" panose="02020603050405020304" pitchFamily="18" charset="0"/>
            </a:endParaRPr>
          </a:p>
          <a:p>
            <a:pPr marL="342900" indent="-342900" algn="l">
              <a:lnSpc>
                <a:spcPct val="1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Training Stability:</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AdamW</a:t>
            </a:r>
            <a:r>
              <a:rPr lang="en-US" sz="2400" b="1" dirty="0">
                <a:latin typeface="Times New Roman" panose="02020603050405020304" pitchFamily="18" charset="0"/>
                <a:cs typeface="Times New Roman" panose="02020603050405020304" pitchFamily="18" charset="0"/>
              </a:rPr>
              <a:t> + </a:t>
            </a:r>
            <a:r>
              <a:rPr lang="en-US" sz="2400" b="1" dirty="0" err="1">
                <a:latin typeface="Times New Roman" panose="02020603050405020304" pitchFamily="18" charset="0"/>
                <a:cs typeface="Times New Roman" panose="02020603050405020304" pitchFamily="18" charset="0"/>
              </a:rPr>
              <a:t>CosineAnnealingLR</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WeightedRandomSampler</a:t>
            </a:r>
            <a:r>
              <a:rPr lang="en-US" sz="2400" dirty="0">
                <a:latin typeface="Times New Roman" panose="02020603050405020304" pitchFamily="18" charset="0"/>
                <a:cs typeface="Times New Roman" panose="02020603050405020304" pitchFamily="18" charset="0"/>
              </a:rPr>
              <a:t> for imbalance, mixed-precision scaler where available.</a:t>
            </a:r>
          </a:p>
          <a:p>
            <a:pPr marL="171450" indent="-171450" algn="l">
              <a:lnSpc>
                <a:spcPct val="100000"/>
              </a:lnSpc>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a:p>
            <a:pPr marL="342900" indent="-342900" algn="l">
              <a:lnSpc>
                <a:spcPct val="1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Pipeline Glue:</a:t>
            </a:r>
            <a:r>
              <a:rPr lang="en-US" sz="2400" dirty="0">
                <a:latin typeface="Times New Roman" panose="02020603050405020304" pitchFamily="18" charset="0"/>
                <a:cs typeface="Times New Roman" panose="02020603050405020304" pitchFamily="18" charset="0"/>
              </a:rPr>
              <a:t> inference script that runs both YOLO models, crops person ROIs, classifies behavior, draws overlays, and logs to CSV.</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646634" y="330143"/>
            <a:ext cx="6879264" cy="455295"/>
          </a:xfrm>
          <a:prstGeom prst="rect">
            <a:avLst/>
          </a:prstGeom>
          <a:noFill/>
          <a:ln>
            <a:noFill/>
          </a:ln>
        </p:spPr>
        <p:txBody>
          <a:bodyPr spcFirstLastPara="1" wrap="square" lIns="0" tIns="12700" rIns="0" bIns="0" anchor="ctr" anchorCtr="0">
            <a:spAutoFit/>
          </a:bodyPr>
          <a:lstStyle/>
          <a:p>
            <a:r>
              <a:rPr lang="en-IN" altLang="en-US" sz="3200" b="1" dirty="0">
                <a:solidFill>
                  <a:srgbClr val="04A2B9"/>
                </a:solidFill>
                <a:latin typeface="Times New Roman" panose="02020603050405020304" pitchFamily="18" charset="0"/>
                <a:cs typeface="Times New Roman" panose="02020603050405020304" pitchFamily="18" charset="0"/>
              </a:rPr>
              <a:t>MODEL ARCHITECTURE</a:t>
            </a:r>
          </a:p>
        </p:txBody>
      </p:sp>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graphicFrame>
        <p:nvGraphicFramePr>
          <p:cNvPr id="2" name="Table 1"/>
          <p:cNvGraphicFramePr/>
          <p:nvPr/>
        </p:nvGraphicFramePr>
        <p:xfrm>
          <a:off x="646430" y="1143635"/>
          <a:ext cx="10888345" cy="4876800"/>
        </p:xfrm>
        <a:graphic>
          <a:graphicData uri="http://schemas.openxmlformats.org/drawingml/2006/table">
            <a:tbl>
              <a:tblPr/>
              <a:tblGrid>
                <a:gridCol w="1739900">
                  <a:extLst>
                    <a:ext uri="{9D8B030D-6E8A-4147-A177-3AD203B41FA5}">
                      <a16:colId xmlns:a16="http://schemas.microsoft.com/office/drawing/2014/main" val="20000"/>
                    </a:ext>
                  </a:extLst>
                </a:gridCol>
                <a:gridCol w="5250180">
                  <a:extLst>
                    <a:ext uri="{9D8B030D-6E8A-4147-A177-3AD203B41FA5}">
                      <a16:colId xmlns:a16="http://schemas.microsoft.com/office/drawing/2014/main" val="20001"/>
                    </a:ext>
                  </a:extLst>
                </a:gridCol>
                <a:gridCol w="3898265">
                  <a:extLst>
                    <a:ext uri="{9D8B030D-6E8A-4147-A177-3AD203B41FA5}">
                      <a16:colId xmlns:a16="http://schemas.microsoft.com/office/drawing/2014/main" val="20002"/>
                    </a:ext>
                  </a:extLst>
                </a:gridCol>
              </a:tblGrid>
              <a:tr h="0">
                <a:tc>
                  <a:txBody>
                    <a:bodyPr/>
                    <a:lstStyle/>
                    <a:p>
                      <a:pPr algn="ctr"/>
                      <a:r>
                        <a:rPr lang="en-US" altLang="zh-CN" sz="1600">
                          <a:latin typeface="Times New Roman" panose="02020603050405020304" pitchFamily="18" charset="0"/>
                          <a:cs typeface="Times New Roman" panose="02020603050405020304" pitchFamily="18" charset="0"/>
                        </a:rPr>
                        <a:t>Aspect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Light-Weight RetinaNet (Li &amp; Ren)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Intruder Detection System (Your Project)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0"/>
                  </a:ext>
                </a:extLst>
              </a:tr>
              <a:tr h="0">
                <a:tc>
                  <a:txBody>
                    <a:bodyPr/>
                    <a:lstStyle/>
                    <a:p>
                      <a:pPr algn="ctr"/>
                      <a:r>
                        <a:rPr lang="en-US" altLang="zh-CN" sz="1600">
                          <a:latin typeface="Times New Roman" panose="02020603050405020304" pitchFamily="18" charset="0"/>
                          <a:cs typeface="Times New Roman" panose="02020603050405020304" pitchFamily="18" charset="0"/>
                        </a:rPr>
                        <a:t> Goal</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Make RetinaNet lighter by reducing FLOPs while keeping accuracy competitive.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Detect intruders by combining human &amp; weapon detection with suspicious behavior analysis.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0">
                <a:tc>
                  <a:txBody>
                    <a:bodyPr/>
                    <a:lstStyle/>
                    <a:p>
                      <a:pPr algn="ctr"/>
                      <a:r>
                        <a:rPr lang="en-US" altLang="zh-CN" sz="1600">
                          <a:latin typeface="Times New Roman" panose="02020603050405020304" pitchFamily="18" charset="0"/>
                          <a:cs typeface="Times New Roman" panose="02020603050405020304" pitchFamily="18" charset="0"/>
                        </a:rPr>
                        <a:t>Datasets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COCO (common objects in context) → benchmark for object detection.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CrowdHuman (people) + OpenImages (weapons) + optional UCF-Crime (behavior).</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0">
                <a:tc>
                  <a:txBody>
                    <a:bodyPr/>
                    <a:lstStyle/>
                    <a:p>
                      <a:pPr algn="ctr"/>
                      <a:r>
                        <a:rPr lang="en-US" altLang="zh-CN" sz="1600">
                          <a:latin typeface="Times New Roman" panose="02020603050405020304" pitchFamily="18" charset="0"/>
                          <a:cs typeface="Times New Roman" panose="02020603050405020304" pitchFamily="18" charset="0"/>
                        </a:rPr>
                        <a:t>Detection Backbone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RetinaNet (ResNet-50 + FPN) baseline; optimized into LW-RetinaNet with lighter blocks.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YOLOv8 for fast human &amp; weapon detection.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296545">
                <a:tc>
                  <a:txBody>
                    <a:bodyPr/>
                    <a:lstStyle/>
                    <a:p>
                      <a:pPr algn="ctr"/>
                      <a:r>
                        <a:rPr lang="en-US" altLang="zh-CN" sz="1600">
                          <a:latin typeface="Times New Roman" panose="02020603050405020304" pitchFamily="18" charset="0"/>
                          <a:cs typeface="Times New Roman" panose="02020603050405020304" pitchFamily="18" charset="0"/>
                        </a:rPr>
                        <a:t>Feature Extractors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No handcrafted features; purely CNN-based with FPN.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Hybrid: CNN (deep features) + LBPH (texture/face features).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r h="0">
                <a:tc>
                  <a:txBody>
                    <a:bodyPr/>
                    <a:lstStyle/>
                    <a:p>
                      <a:pPr algn="ctr"/>
                      <a:r>
                        <a:rPr lang="en-US" altLang="zh-CN" sz="1600">
                          <a:latin typeface="Times New Roman" panose="02020603050405020304" pitchFamily="18" charset="0"/>
                          <a:cs typeface="Times New Roman" panose="02020603050405020304" pitchFamily="18" charset="0"/>
                        </a:rPr>
                        <a:t>Accuracy Metrics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mAP (mean Average Precision): ~22–25% for lightweight YOLO/SSD, ~35% for RetinaNet baseline, ~34–35.6% for LW-RetinaNet.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Accuracy: CNN only ~68%, CNN+LBPH ~70%. Also reported AUC (0.76) and confusion matrix.</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5"/>
                  </a:ext>
                </a:extLst>
              </a:tr>
              <a:tr h="0">
                <a:tc>
                  <a:txBody>
                    <a:bodyPr/>
                    <a:lstStyle/>
                    <a:p>
                      <a:pPr algn="ctr"/>
                      <a:r>
                        <a:rPr lang="en-US" altLang="zh-CN" sz="1600">
                          <a:latin typeface="Times New Roman" panose="02020603050405020304" pitchFamily="18" charset="0"/>
                          <a:cs typeface="Times New Roman" panose="02020603050405020304" pitchFamily="18" charset="0"/>
                        </a:rPr>
                        <a:t>Focus on Resources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Explicit FLOPs reduction for mobile/embedded feasibility.</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Dataset sampling (¼th images) for Colab GPU constraints; aims for real-time CCTV deployment.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6"/>
                  </a:ext>
                </a:extLst>
              </a:tr>
              <a:tr h="0">
                <a:tc>
                  <a:txBody>
                    <a:bodyPr/>
                    <a:lstStyle/>
                    <a:p>
                      <a:pPr algn="ctr"/>
                      <a:r>
                        <a:rPr lang="en-US" altLang="zh-CN" sz="1600">
                          <a:latin typeface="Times New Roman" panose="02020603050405020304" pitchFamily="18" charset="0"/>
                          <a:cs typeface="Times New Roman" panose="02020603050405020304" pitchFamily="18" charset="0"/>
                        </a:rPr>
                        <a:t>Performance Trade-off</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Accuracy dropped slightly (≤1%) but FLOPs reduced up to 1.8×.</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Accuracy modest (~70%, &lt;65% on CNN-only in some runs), but hybrid improved robustness.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7"/>
                  </a:ext>
                </a:extLst>
              </a:tr>
              <a:tr h="0">
                <a:tc>
                  <a:txBody>
                    <a:bodyPr/>
                    <a:lstStyle/>
                    <a:p>
                      <a:pPr algn="ctr"/>
                      <a:r>
                        <a:rPr lang="en-US" altLang="zh-CN" sz="1600">
                          <a:latin typeface="Times New Roman" panose="02020603050405020304" pitchFamily="18" charset="0"/>
                          <a:cs typeface="Times New Roman" panose="02020603050405020304" pitchFamily="18" charset="0"/>
                        </a:rPr>
                        <a:t>Use Case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General-purpose object detection research.</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600">
                          <a:latin typeface="Times New Roman" panose="02020603050405020304" pitchFamily="18" charset="0"/>
                          <a:cs typeface="Times New Roman" panose="02020603050405020304" pitchFamily="18" charset="0"/>
                        </a:rPr>
                        <a:t>Security/surveillance intruder detection system (practical deployment).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sp>
        <p:nvSpPr>
          <p:cNvPr id="5" name="Google Shape;99;p3"/>
          <p:cNvSpPr txBox="1">
            <a:spLocks noGrp="1"/>
          </p:cNvSpPr>
          <p:nvPr/>
        </p:nvSpPr>
        <p:spPr>
          <a:xfrm>
            <a:off x="646654" y="248227"/>
            <a:ext cx="4669112" cy="504825"/>
          </a:xfrm>
          <a:prstGeom prst="rect">
            <a:avLst/>
          </a:prstGeom>
          <a:noFill/>
          <a:ln>
            <a:noFill/>
          </a:ln>
        </p:spPr>
        <p:txBody>
          <a:bodyPr spcFirstLastPara="1" wrap="square" lIns="0" tIns="12700" rIns="0" bIns="0" anchor="ctr"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12700">
              <a:lnSpc>
                <a:spcPct val="100000"/>
              </a:lnSpc>
              <a:buClr>
                <a:srgbClr val="04A2B9"/>
              </a:buClr>
              <a:buSzPts val="2400"/>
              <a:buFont typeface="Proxima Nova" panose="02000506030000020004"/>
            </a:pPr>
            <a:r>
              <a:rPr lang="en-US" sz="3200" b="1" dirty="0">
                <a:solidFill>
                  <a:srgbClr val="04A2B9"/>
                </a:solidFill>
                <a:latin typeface="Times New Roman" panose="02020603050405020304" pitchFamily="18" charset="0"/>
                <a:cs typeface="Times New Roman" panose="02020603050405020304" pitchFamily="18" charset="0"/>
              </a:rPr>
              <a:t>CONCLUSION</a:t>
            </a:r>
          </a:p>
        </p:txBody>
      </p:sp>
      <p:sp>
        <p:nvSpPr>
          <p:cNvPr id="6" name="Google Shape;100;p3"/>
          <p:cNvSpPr txBox="1"/>
          <p:nvPr/>
        </p:nvSpPr>
        <p:spPr>
          <a:xfrm>
            <a:off x="448242" y="1053203"/>
            <a:ext cx="11295516" cy="387477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342900" indent="-342900" algn="just">
              <a:buFont typeface="Arial" panose="020B0604020202020204" pitchFamily="34" charset="0"/>
              <a:buChar char="•"/>
            </a:pPr>
            <a:r>
              <a:rPr lang="en-US" sz="2400" dirty="0">
                <a:solidFill>
                  <a:schemeClr val="tx1"/>
                </a:solidFill>
                <a:latin typeface="Times New Roman" panose="02020603050405020304"/>
              </a:rPr>
              <a:t>A practical, modular pipeline that flags intruders by </a:t>
            </a:r>
            <a:r>
              <a:rPr lang="en-US" sz="2400" b="1" dirty="0">
                <a:solidFill>
                  <a:schemeClr val="tx1"/>
                </a:solidFill>
                <a:latin typeface="Times New Roman" panose="02020603050405020304"/>
              </a:rPr>
              <a:t>combining object detection with behavior understanding</a:t>
            </a:r>
            <a:r>
              <a:rPr lang="en-US" sz="2400" dirty="0">
                <a:solidFill>
                  <a:schemeClr val="tx1"/>
                </a:solidFill>
                <a:latin typeface="Times New Roman" panose="02020603050405020304"/>
              </a:rPr>
              <a:t>. Separate YOLOv8n detectors plus </a:t>
            </a:r>
            <a:r>
              <a:rPr lang="en-US" sz="2400" b="1" dirty="0">
                <a:solidFill>
                  <a:schemeClr val="tx1"/>
                </a:solidFill>
                <a:latin typeface="Times New Roman" panose="02020603050405020304"/>
              </a:rPr>
              <a:t>CNN+LBPH</a:t>
            </a:r>
            <a:r>
              <a:rPr lang="en-US" sz="2400" dirty="0">
                <a:solidFill>
                  <a:schemeClr val="tx1"/>
                </a:solidFill>
                <a:latin typeface="Times New Roman" panose="02020603050405020304"/>
              </a:rPr>
              <a:t> fusion give a strong, resource-friendly baseline. </a:t>
            </a:r>
          </a:p>
          <a:p>
            <a:pPr marL="0" indent="0" algn="just">
              <a:buFont typeface="Arial" panose="020B0604020202020204" pitchFamily="34" charset="0"/>
              <a:buNone/>
            </a:pPr>
            <a:endParaRPr lang="en-US" sz="2400" dirty="0">
              <a:solidFill>
                <a:schemeClr val="tx1"/>
              </a:solidFill>
              <a:latin typeface="Times New Roman" panose="02020603050405020304"/>
            </a:endParaRPr>
          </a:p>
          <a:p>
            <a:pPr marL="342900" indent="-342900" algn="just">
              <a:buFont typeface="Arial" panose="020B0604020202020204" pitchFamily="34" charset="0"/>
              <a:buChar char="•"/>
            </a:pPr>
            <a:r>
              <a:rPr lang="en-US" altLang="en-US" sz="2400">
                <a:solidFill>
                  <a:schemeClr val="tx1"/>
                </a:solidFill>
                <a:latin typeface="Times New Roman" panose="02020603050405020304"/>
              </a:rPr>
              <a:t>Rather than  accuracy , we focused our paper with the latest models to work upon and got the results accurately as we wanted to showcase.We are able to conclude with the models which we have used that is YOLO, CNN and LBPH they can be used to a particular modular pipeline that flags intruders(suspicious) by combining object detection models with behaviour understanding. Separate YOLOv8n detectors plus CNN+LBPH fusion gives a strong resource friendly baseline.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100" name="Google Shape;100;p3"/>
          <p:cNvSpPr txBox="1"/>
          <p:nvPr/>
        </p:nvSpPr>
        <p:spPr>
          <a:xfrm>
            <a:off x="646113" y="966117"/>
            <a:ext cx="8591100" cy="40007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lang="en-US" dirty="0"/>
          </a:p>
        </p:txBody>
      </p:sp>
      <p:sp>
        <p:nvSpPr>
          <p:cNvPr id="5" name="Google Shape;99;p3"/>
          <p:cNvSpPr txBox="1">
            <a:spLocks noGrp="1"/>
          </p:cNvSpPr>
          <p:nvPr/>
        </p:nvSpPr>
        <p:spPr>
          <a:xfrm>
            <a:off x="706979" y="248227"/>
            <a:ext cx="4669112" cy="504825"/>
          </a:xfrm>
          <a:prstGeom prst="rect">
            <a:avLst/>
          </a:prstGeom>
          <a:noFill/>
          <a:ln>
            <a:noFill/>
          </a:ln>
        </p:spPr>
        <p:txBody>
          <a:bodyPr spcFirstLastPara="1" wrap="square" lIns="0" tIns="12700" rIns="0" bIns="0" anchor="ctr"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12700">
              <a:lnSpc>
                <a:spcPct val="100000"/>
              </a:lnSpc>
              <a:buClr>
                <a:srgbClr val="04A2B9"/>
              </a:buClr>
              <a:buSzPts val="2400"/>
              <a:buFont typeface="Proxima Nova" panose="02000506030000020004"/>
            </a:pPr>
            <a:r>
              <a:rPr lang="en-US" sz="3200" b="1" dirty="0">
                <a:solidFill>
                  <a:srgbClr val="04A2B9"/>
                </a:solidFill>
                <a:latin typeface="Times New Roman" panose="02020603050405020304" pitchFamily="18" charset="0"/>
                <a:cs typeface="Times New Roman" panose="02020603050405020304" pitchFamily="18" charset="0"/>
              </a:rPr>
              <a:t>FUTURE WORK</a:t>
            </a:r>
          </a:p>
        </p:txBody>
      </p:sp>
      <p:sp>
        <p:nvSpPr>
          <p:cNvPr id="6" name="Google Shape;100;p3"/>
          <p:cNvSpPr txBox="1"/>
          <p:nvPr/>
        </p:nvSpPr>
        <p:spPr>
          <a:xfrm>
            <a:off x="448242" y="1053203"/>
            <a:ext cx="11295516" cy="35052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342900" indent="-342900" algn="just">
              <a:buFont typeface="Wingdings" panose="05000000000000000000" charset="0"/>
              <a:buChar char="§"/>
            </a:pPr>
            <a:r>
              <a:rPr lang="en-US" altLang="en-US" sz="2400" dirty="0">
                <a:solidFill>
                  <a:schemeClr val="tx1"/>
                </a:solidFill>
                <a:latin typeface="Times New Roman" panose="02020603050405020304"/>
              </a:rPr>
              <a:t>In the future work, implement IoU- based weapon-to-person mapping i.e. we can have the particular ratio of area of intersection and area over union based on the boundary box. It also reduces the false positvies with thresholding and multi-frame validation. Also, for the emotions they can use the temporal modelling like LSTM or transformers for such behaviour analysis.  Through this paper the applications are on the related organizations of schools and colleges where we can identify how we are actually trying to detect the suspicious behaviour.By this</a:t>
            </a:r>
            <a:r>
              <a:rPr lang="en-IN" altLang="en-US" sz="2400" dirty="0">
                <a:solidFill>
                  <a:schemeClr val="tx1"/>
                </a:solidFill>
                <a:latin typeface="Times New Roman" panose="02020603050405020304"/>
              </a:rPr>
              <a:t> project, </a:t>
            </a:r>
            <a:r>
              <a:rPr lang="en-US" altLang="en-US" sz="2400" dirty="0">
                <a:solidFill>
                  <a:schemeClr val="tx1"/>
                </a:solidFill>
                <a:latin typeface="Times New Roman" panose="02020603050405020304"/>
              </a:rPr>
              <a:t>we have identified some of the real problems which are being faced and to reduce or remove those problems, the models which  can be applied.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726029" y="248227"/>
            <a:ext cx="2320909" cy="50482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3200" b="1" dirty="0">
                <a:solidFill>
                  <a:srgbClr val="04A2B9"/>
                </a:solidFill>
                <a:latin typeface="Times New Roman" panose="02020603050405020304" pitchFamily="18" charset="0"/>
                <a:ea typeface="Proxima Nova" panose="02000506030000020004"/>
                <a:cs typeface="Times New Roman" panose="02020603050405020304" pitchFamily="18" charset="0"/>
                <a:sym typeface="Proxima Nova" panose="02000506030000020004"/>
              </a:rPr>
              <a:t>References</a:t>
            </a:r>
          </a:p>
        </p:txBody>
      </p:sp>
      <p:sp>
        <p:nvSpPr>
          <p:cNvPr id="106" name="Google Shape;106;p4"/>
          <p:cNvSpPr txBox="1"/>
          <p:nvPr/>
        </p:nvSpPr>
        <p:spPr>
          <a:xfrm>
            <a:off x="646113" y="1124744"/>
            <a:ext cx="10955192" cy="5493781"/>
          </a:xfrm>
          <a:prstGeom prst="rect">
            <a:avLst/>
          </a:prstGeom>
          <a:noFill/>
          <a:ln>
            <a:noFill/>
          </a:ln>
        </p:spPr>
        <p:txBody>
          <a:bodyPr spcFirstLastPara="1" wrap="square" lIns="91425" tIns="91425" rIns="91425" bIns="91425" anchor="t" anchorCtr="0">
            <a:spAutoFit/>
          </a:bodyPr>
          <a:lstStyle/>
          <a:p>
            <a:pPr algn="just">
              <a:buSzPts val="1700"/>
            </a:pPr>
            <a:r>
              <a:rPr lang="en-IN" sz="1500" dirty="0">
                <a:latin typeface="Times New Roman" panose="02020603050405020304"/>
                <a:sym typeface="Proxima Nova" panose="02000506030000020004"/>
              </a:rPr>
              <a:t>[1] P. Patel, A. Sharma, and R. Mehta, “Real-Time Weapon Detection and Alerting System Using YOLOv7,” Springer Lecture Notes in Electrical Engineering, 2023. [Online]. Available: Springer PDF.</a:t>
            </a:r>
            <a:endParaRPr lang="en-US" sz="1500">
              <a:latin typeface="Times New Roman" panose="02020603050405020304"/>
            </a:endParaRPr>
          </a:p>
          <a:p>
            <a:pPr algn="just">
              <a:buSzPts val="1700"/>
            </a:pPr>
            <a:r>
              <a:rPr lang="en-IN" sz="1500" dirty="0">
                <a:latin typeface="Times New Roman" panose="02020603050405020304"/>
                <a:sym typeface="Proxima Nova" panose="02000506030000020004"/>
              </a:rPr>
              <a:t>[2] A. Khan and M. Raza, “Detection of Guns and Knives Images Based on YOLOv7,” ResearchGate, 2022. [Online]. Available: ResearchGate PDF.</a:t>
            </a:r>
            <a:endParaRPr lang="en-IN" sz="1500">
              <a:latin typeface="Times New Roman" panose="02020603050405020304"/>
            </a:endParaRPr>
          </a:p>
          <a:p>
            <a:pPr algn="just">
              <a:buSzPts val="1700"/>
            </a:pPr>
            <a:r>
              <a:rPr lang="en-IN" sz="1500" dirty="0">
                <a:latin typeface="Times New Roman" panose="02020603050405020304"/>
                <a:sym typeface="Proxima Nova" panose="02000506030000020004"/>
              </a:rPr>
              <a:t>[3] R. Verma and N. Sharma, “A Multi-Weapon Detection Using Deep Learning,” International Journal of Computer Applications, 2024. [Online]. Available: Direct PDF.</a:t>
            </a:r>
            <a:endParaRPr lang="en-IN" sz="1500">
              <a:latin typeface="Times New Roman" panose="02020603050405020304"/>
            </a:endParaRPr>
          </a:p>
          <a:p>
            <a:pPr algn="just">
              <a:buSzPts val="1700"/>
            </a:pPr>
            <a:r>
              <a:rPr lang="en-IN" sz="1500" dirty="0">
                <a:latin typeface="Times New Roman" panose="02020603050405020304"/>
                <a:sym typeface="Proxima Nova" panose="02000506030000020004"/>
              </a:rPr>
              <a:t>[4] A. Gupta, R. Sinha, and M. Patel, “YOLOv7/v8 Weapon Detection Benchmark,” International Journal of Intelligent Systems and Applications in Engineering (IJISAE), vol. 11, no. 3, pp. 150–157, 2023.</a:t>
            </a:r>
            <a:endParaRPr lang="en-IN" sz="1500">
              <a:latin typeface="Times New Roman" panose="02020603050405020304"/>
            </a:endParaRPr>
          </a:p>
          <a:p>
            <a:pPr algn="just">
              <a:buSzPts val="1700"/>
            </a:pPr>
            <a:r>
              <a:rPr lang="en-IN" sz="1500" dirty="0">
                <a:latin typeface="Times New Roman" panose="02020603050405020304"/>
                <a:sym typeface="Proxima Nova" panose="02000506030000020004"/>
              </a:rPr>
              <a:t>[5] S. Reddy, P. Kumar, and H. Singh, “Anomaly Recognition from Surveillance Videos using 3D </a:t>
            </a:r>
            <a:r>
              <a:rPr lang="en-IN" sz="1500" err="1">
                <a:latin typeface="Times New Roman" panose="02020603050405020304"/>
                <a:sym typeface="Proxima Nova" panose="02000506030000020004"/>
              </a:rPr>
              <a:t>ConvNets</a:t>
            </a:r>
            <a:r>
              <a:rPr lang="en-IN" sz="1500" dirty="0">
                <a:latin typeface="Times New Roman" panose="02020603050405020304"/>
                <a:sym typeface="Proxima Nova" panose="02000506030000020004"/>
              </a:rPr>
              <a:t>,” Springer Lecture Notes in Computer Science, vol. 13311, pp. 112–123, 2022. [Online]. Available: Springer PDF.</a:t>
            </a:r>
            <a:endParaRPr lang="en-IN" sz="1500">
              <a:latin typeface="Times New Roman" panose="02020603050405020304"/>
            </a:endParaRPr>
          </a:p>
          <a:p>
            <a:pPr algn="just">
              <a:buSzPts val="1700"/>
            </a:pPr>
            <a:r>
              <a:rPr lang="en-IN" sz="1500" dirty="0">
                <a:latin typeface="Times New Roman" panose="02020603050405020304"/>
                <a:sym typeface="Proxima Nova" panose="02000506030000020004"/>
              </a:rPr>
              <a:t>[6] Y. Zhang, L. Zhou, and H. Li, “Anomaly Detection in Surveillance Videos on Terminal Devices,” in Proceedings of the Design, Automation &amp; Test in Europe Conference (DATE), 2021, pp. 1020–1025.</a:t>
            </a:r>
            <a:endParaRPr lang="en-IN" sz="1500">
              <a:latin typeface="Times New Roman" panose="02020603050405020304"/>
            </a:endParaRPr>
          </a:p>
          <a:p>
            <a:pPr algn="just">
              <a:buSzPts val="1700"/>
            </a:pPr>
            <a:r>
              <a:rPr lang="en-IN" sz="1500" dirty="0">
                <a:latin typeface="Times New Roman" panose="02020603050405020304"/>
                <a:sym typeface="Proxima Nova" panose="02000506030000020004"/>
              </a:rPr>
              <a:t>[7] K. Singh and R. Bhatt, “</a:t>
            </a:r>
            <a:r>
              <a:rPr lang="en-IN" sz="1500" err="1">
                <a:latin typeface="Times New Roman" panose="02020603050405020304"/>
                <a:sym typeface="Proxima Nova" panose="02000506030000020004"/>
              </a:rPr>
              <a:t>SurveillanceNet</a:t>
            </a:r>
            <a:r>
              <a:rPr lang="en-IN" sz="1500" dirty="0">
                <a:latin typeface="Times New Roman" panose="02020603050405020304"/>
                <a:sym typeface="Proxima Nova" panose="02000506030000020004"/>
              </a:rPr>
              <a:t>: </a:t>
            </a:r>
            <a:r>
              <a:rPr lang="en-IN" sz="1500" err="1">
                <a:latin typeface="Times New Roman" panose="02020603050405020304"/>
                <a:sym typeface="Proxima Nova" panose="02000506030000020004"/>
              </a:rPr>
              <a:t>Spatio</a:t>
            </a:r>
            <a:r>
              <a:rPr lang="en-IN" sz="1500" dirty="0">
                <a:latin typeface="Times New Roman" panose="02020603050405020304"/>
                <a:sym typeface="Proxima Nova" panose="02000506030000020004"/>
              </a:rPr>
              <a:t>‑temporal Anomaly Detection,” Springer Multimedia Tools and Applications, vol. 82, no. 5, pp. 7043–7060, 2023. [Online]. Available: Springer PDF.</a:t>
            </a:r>
            <a:endParaRPr lang="en-IN" sz="1500">
              <a:latin typeface="Times New Roman" panose="02020603050405020304"/>
            </a:endParaRPr>
          </a:p>
          <a:p>
            <a:pPr algn="just">
              <a:buSzPts val="1700"/>
            </a:pPr>
            <a:r>
              <a:rPr lang="en-IN" sz="1500" dirty="0">
                <a:latin typeface="Times New Roman" panose="02020603050405020304"/>
                <a:sym typeface="Proxima Nova" panose="02000506030000020004"/>
              </a:rPr>
              <a:t>[8] M. Lopez and F. Wang, “Efficient Anomaly Detection in Surveillance,” </a:t>
            </a:r>
            <a:r>
              <a:rPr lang="en-IN" sz="1500" err="1">
                <a:latin typeface="Times New Roman" panose="02020603050405020304"/>
                <a:sym typeface="Proxima Nova" panose="02000506030000020004"/>
              </a:rPr>
              <a:t>PeerJ</a:t>
            </a:r>
            <a:r>
              <a:rPr lang="en-IN" sz="1500" dirty="0">
                <a:latin typeface="Times New Roman" panose="02020603050405020304"/>
                <a:sym typeface="Proxima Nova" panose="02000506030000020004"/>
              </a:rPr>
              <a:t> Computer Science, vol. 8, e1234, 2022. [Online]. Available: </a:t>
            </a:r>
            <a:r>
              <a:rPr lang="en-IN" sz="1500" err="1">
                <a:latin typeface="Times New Roman" panose="02020603050405020304"/>
                <a:sym typeface="Proxima Nova" panose="02000506030000020004"/>
              </a:rPr>
              <a:t>PeerJ</a:t>
            </a:r>
            <a:r>
              <a:rPr lang="en-IN" sz="1500" dirty="0">
                <a:latin typeface="Times New Roman" panose="02020603050405020304"/>
                <a:sym typeface="Proxima Nova" panose="02000506030000020004"/>
              </a:rPr>
              <a:t> PDF.</a:t>
            </a:r>
            <a:endParaRPr lang="en-IN" sz="1500">
              <a:latin typeface="Times New Roman" panose="02020603050405020304"/>
            </a:endParaRPr>
          </a:p>
          <a:p>
            <a:pPr algn="just">
              <a:buSzPts val="1700"/>
            </a:pPr>
            <a:r>
              <a:rPr lang="en-IN" sz="1500" dirty="0">
                <a:latin typeface="Times New Roman" panose="02020603050405020304"/>
                <a:sym typeface="Proxima Nova" panose="02000506030000020004"/>
              </a:rPr>
              <a:t>[9] P. Shu, C. Zhang, and Z. Zhu, “</a:t>
            </a:r>
            <a:r>
              <a:rPr lang="en-IN" sz="1500" err="1">
                <a:latin typeface="Times New Roman" panose="02020603050405020304"/>
                <a:sym typeface="Proxima Nova" panose="02000506030000020004"/>
              </a:rPr>
              <a:t>CrowdHuman</a:t>
            </a:r>
            <a:r>
              <a:rPr lang="en-IN" sz="1500" dirty="0">
                <a:latin typeface="Times New Roman" panose="02020603050405020304"/>
                <a:sym typeface="Proxima Nova" panose="02000506030000020004"/>
              </a:rPr>
              <a:t>: A Benchmark for Detecting Human in a Crowd,” </a:t>
            </a:r>
            <a:r>
              <a:rPr lang="en-IN" sz="1500" err="1">
                <a:latin typeface="Times New Roman" panose="02020603050405020304"/>
                <a:sym typeface="Proxima Nova" panose="02000506030000020004"/>
              </a:rPr>
              <a:t>arXiv</a:t>
            </a:r>
            <a:r>
              <a:rPr lang="en-IN" sz="1500" dirty="0">
                <a:latin typeface="Times New Roman" panose="02020603050405020304"/>
                <a:sym typeface="Proxima Nova" panose="02000506030000020004"/>
              </a:rPr>
              <a:t> preprint arXiv:1805.00123, 2019. [Online]. Available: </a:t>
            </a:r>
            <a:r>
              <a:rPr lang="en-IN" sz="1500" dirty="0">
                <a:solidFill>
                  <a:srgbClr val="FF0000"/>
                </a:solidFill>
                <a:latin typeface="Times New Roman" panose="02020603050405020304"/>
                <a:sym typeface="Proxima Nova" panose="02000506030000020004"/>
                <a:hlinkClick r:id="rId4"/>
              </a:rPr>
              <a:t>https://arxiv.org/abs/1805.00123</a:t>
            </a:r>
            <a:endParaRPr lang="en-IN" sz="1500">
              <a:latin typeface="Times New Roman" panose="02020603050405020304"/>
            </a:endParaRPr>
          </a:p>
          <a:p>
            <a:pPr algn="just">
              <a:buSzPts val="1700"/>
            </a:pPr>
            <a:r>
              <a:rPr lang="en-IN" sz="1500" dirty="0">
                <a:latin typeface="Times New Roman" panose="02020603050405020304"/>
                <a:sym typeface="Proxima Nova" panose="02000506030000020004"/>
              </a:rPr>
              <a:t>[10] H. Xu, Y. Wang, and C. Liu, “PP-YOLOE: An Evolved Version of YOLO for Object Detection,” </a:t>
            </a:r>
            <a:r>
              <a:rPr lang="en-IN" sz="1500" err="1">
                <a:latin typeface="Times New Roman" panose="02020603050405020304"/>
                <a:sym typeface="Proxima Nova" panose="02000506030000020004"/>
              </a:rPr>
              <a:t>arXiv</a:t>
            </a:r>
            <a:r>
              <a:rPr lang="en-IN" sz="1500" dirty="0">
                <a:latin typeface="Times New Roman" panose="02020603050405020304"/>
                <a:sym typeface="Proxima Nova" panose="02000506030000020004"/>
              </a:rPr>
              <a:t> preprint arXiv:2203.16250, 2023. [Online]. Available: </a:t>
            </a:r>
            <a:r>
              <a:rPr lang="en-IN" sz="1500" dirty="0">
                <a:solidFill>
                  <a:srgbClr val="FF0000"/>
                </a:solidFill>
                <a:latin typeface="Times New Roman" panose="02020603050405020304"/>
                <a:sym typeface="Proxima Nova" panose="02000506030000020004"/>
                <a:hlinkClick r:id="rId4"/>
              </a:rPr>
              <a:t>https://arxiv.org/abs/2203.16250</a:t>
            </a:r>
            <a:endParaRPr lang="en-IN" sz="1500">
              <a:latin typeface="Times New Roman" panose="02020603050405020304"/>
            </a:endParaRPr>
          </a:p>
          <a:p>
            <a:pPr algn="just">
              <a:buSzPts val="1700"/>
            </a:pPr>
            <a:r>
              <a:rPr lang="en-IN" sz="1500" dirty="0">
                <a:latin typeface="Times New Roman" panose="02020603050405020304"/>
                <a:sym typeface="Proxima Nova" panose="02000506030000020004"/>
              </a:rPr>
              <a:t>[11] M. H. Nguyen, A. D. Roy-Chowdhury, and M. Turk, “A Large-Scale Benchmark Dataset for Event Recognition in Surveillance Video,” MIT Computer Vision Group, 2017. [Online]. Available: ﷟HYPERLINK "https://www.viratdata.org/"https://www.viratdata.org/</a:t>
            </a:r>
            <a:endParaRPr lang="en-IN" sz="1500">
              <a:latin typeface="Times New Roman" panose="02020603050405020304"/>
            </a:endParaRPr>
          </a:p>
          <a:p>
            <a:pPr algn="just">
              <a:buSzPts val="1700"/>
            </a:pPr>
            <a:endParaRPr lang="en-IN" sz="1500" dirty="0">
              <a:latin typeface="Times New Roman" panose="020206030504050203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10"/>
        <p:cNvGrpSpPr/>
        <p:nvPr/>
      </p:nvGrpSpPr>
      <p:grpSpPr>
        <a:xfrm>
          <a:off x="0" y="0"/>
          <a:ext cx="0" cy="0"/>
          <a:chOff x="0" y="0"/>
          <a:chExt cx="0" cy="0"/>
        </a:xfrm>
      </p:grpSpPr>
      <p:sp>
        <p:nvSpPr>
          <p:cNvPr id="111" name="Google Shape;111;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2704</Words>
  <Application>Microsoft Office PowerPoint</Application>
  <PresentationFormat>Widescreen</PresentationFormat>
  <Paragraphs>237</Paragraphs>
  <Slides>27</Slides>
  <Notes>27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27</vt:i4>
      </vt:variant>
    </vt:vector>
  </HeadingPairs>
  <TitlesOfParts>
    <vt:vector size="34" baseType="lpstr">
      <vt:lpstr>Arial</vt:lpstr>
      <vt:lpstr>Times New Roman</vt:lpstr>
      <vt:lpstr>Wingdings</vt:lpstr>
      <vt:lpstr>Proxima Nova</vt:lpstr>
      <vt:lpstr>Calibri</vt:lpstr>
      <vt:lpstr>Office Theme</vt:lpstr>
      <vt:lpstr>Office Theme</vt:lpstr>
      <vt:lpstr>PowerPoint Presentation</vt:lpstr>
      <vt:lpstr>PowerPoint Presentation</vt:lpstr>
      <vt:lpstr>Abstract</vt:lpstr>
      <vt:lpstr>Introduction</vt:lpstr>
      <vt:lpstr>Project Overview</vt:lpstr>
      <vt:lpstr>IMPLEMENTATION</vt:lpstr>
      <vt:lpstr>LITERATURE REVIEW</vt:lpstr>
      <vt:lpstr>WORKFLOW</vt:lpstr>
      <vt:lpstr>MODEL ARCHITECTURE</vt:lpstr>
      <vt:lpstr>PowerPoint Presentation</vt:lpstr>
      <vt:lpstr>PowerPoint Presentation</vt:lpstr>
      <vt:lpstr>PowerPoint Presentation</vt:lpstr>
      <vt:lpstr>PowerPoint Presentation</vt:lpstr>
      <vt:lpstr>PowerPoint Presentation</vt:lpstr>
      <vt:lpstr>Intruder Alert CNN+LBPH </vt:lpstr>
      <vt:lpstr>Intruder Alert CNN+LBPH </vt:lpstr>
      <vt:lpstr>Intruder Alert CNN+LBPH </vt:lpstr>
      <vt:lpstr>Intruder Alert</vt:lpstr>
      <vt:lpstr>PowerPoint Presentation</vt:lpstr>
      <vt:lpstr>Planning and Scheduling</vt:lpstr>
      <vt:lpstr>Review 1 Summary &amp; Evaluator’s Remarks</vt:lpstr>
      <vt:lpstr>Changes/Updates Based On Review 1 Feedback</vt:lpstr>
      <vt:lpstr>MODEL ARCHITECTURE</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MR. ROMEO</cp:lastModifiedBy>
  <cp:revision>237</cp:revision>
  <dcterms:created xsi:type="dcterms:W3CDTF">2023-12-05T07:58:00Z</dcterms:created>
  <dcterms:modified xsi:type="dcterms:W3CDTF">2025-09-05T05:37:06Z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BE7E1AA1FDAB42D3A482B274C9D496E7_12</vt:lpwstr>
  </property>
  <property fmtid="{D5CDD505-2E9C-101B-9397-08002B2CF9AE}" pid="3" name="KSOProductBuildVer">
    <vt:lpwstr>1033-12.2.0.22530</vt:lpwstr>
  </property>
</Properties>
</file>